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align Southern, KDM, and partners on how the existing SVP Platform will be deployed as the LIFT Center's intake, CRM, training, and reporting system, and what must be built to meet MBDA measures.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Three-year goals reflect the press release and Project Narrative. Year 1 targets differ between source documents and will be confirmed; the platform stores them as configurable values.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Milestones shown as written in the Year 1 matrix image. The 08/31 worksheet uses lower Y1 targets (100 clients, 10 starts, 5 contracts); confirmation is an open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is based on routes, APIs, and schemas in the svp-platform codebase. Depth of each module should be confirmed in a hands-on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Ported from the reusable Requirements Interview Tool specification (Adams Harness). The PRD build/deploy adapter is not ported to the LIFT site.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produces first-quarter results for the invoice narrative. The ~Nov 19 date aligns with the mobile CAVE launch and AM Lab ribbon cutting; confirm with MBDA availability.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0" y="0"/>
            <a:ext cx="4050791" cy="6858000"/>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onut 3"/>
          <p:cNvSpPr/>
          <p:nvPr/>
        </p:nvSpPr>
        <p:spPr>
          <a:xfrm>
            <a:off x="8778240" y="-1463040"/>
            <a:ext cx="5120640" cy="5120640"/>
          </a:xfrm>
          <a:prstGeom prst="donut">
            <a:avLst>
              <a:gd name="adj" fmla="val 6000"/>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640080"/>
            <a:ext cx="2240280" cy="731520"/>
          </a:xfrm>
          <a:prstGeom prst="roundRect">
            <a:avLst>
              <a:gd name="adj" fmla="val 8000"/>
            </a:avLst>
          </a:prstGeom>
          <a:solidFill>
            <a:srgbClr val="0B2545"/>
          </a:solidFill>
          <a:ln w="12700">
            <a:solidFill>
              <a:srgbClr val="9FB3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C8D3E0"/>
                </a:solidFill>
                <a:latin typeface="Segoe UI"/>
              </a:rPr>
              <a:t>SOUTHERN UNIVERSITY
LIFT CENTER LOGO</a:t>
            </a:r>
          </a:p>
        </p:txBody>
      </p:sp>
      <p:sp>
        <p:nvSpPr>
          <p:cNvPr id="6" name="Rounded Rectangle 5"/>
          <p:cNvSpPr/>
          <p:nvPr/>
        </p:nvSpPr>
        <p:spPr>
          <a:xfrm>
            <a:off x="3200400" y="640080"/>
            <a:ext cx="2240280" cy="731520"/>
          </a:xfrm>
          <a:prstGeom prst="roundRect">
            <a:avLst>
              <a:gd name="adj" fmla="val 8000"/>
            </a:avLst>
          </a:prstGeom>
          <a:solidFill>
            <a:srgbClr val="0B2545"/>
          </a:solidFill>
          <a:ln w="12700">
            <a:solidFill>
              <a:srgbClr val="9FB3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C8D3E0"/>
                </a:solidFill>
                <a:latin typeface="Segoe UI"/>
              </a:rPr>
              <a:t>MBDA LOGO
(per current branding guide)</a:t>
            </a:r>
          </a:p>
        </p:txBody>
      </p:sp>
      <p:sp>
        <p:nvSpPr>
          <p:cNvPr id="7" name="TextBox 6"/>
          <p:cNvSpPr txBox="1"/>
          <p:nvPr/>
        </p:nvSpPr>
        <p:spPr>
          <a:xfrm>
            <a:off x="731520" y="1874519"/>
            <a:ext cx="7223760" cy="365760"/>
          </a:xfrm>
          <a:prstGeom prst="rect">
            <a:avLst/>
          </a:prstGeom>
          <a:noFill/>
        </p:spPr>
        <p:txBody>
          <a:bodyPr wrap="square" anchor="t" lIns="45720" rIns="45720" tIns="27432" bIns="27432">
            <a:spAutoFit/>
          </a:bodyPr>
          <a:lstStyle/>
          <a:p>
            <a:pPr algn="l">
              <a:spcAft>
                <a:spcPts val="400"/>
              </a:spcAft>
            </a:pPr>
            <a:r>
              <a:rPr sz="1300" b="1">
                <a:solidFill>
                  <a:srgbClr val="C9A227"/>
                </a:solidFill>
                <a:latin typeface="Segoe UI"/>
              </a:rPr>
              <a:t>IMPLEMENTATION PLAN  ·  PLATFORM PITCH</a:t>
            </a:r>
          </a:p>
        </p:txBody>
      </p:sp>
      <p:sp>
        <p:nvSpPr>
          <p:cNvPr id="8" name="TextBox 7"/>
          <p:cNvSpPr txBox="1"/>
          <p:nvPr/>
        </p:nvSpPr>
        <p:spPr>
          <a:xfrm>
            <a:off x="731520" y="2286000"/>
            <a:ext cx="7223760" cy="1737360"/>
          </a:xfrm>
          <a:prstGeom prst="rect">
            <a:avLst/>
          </a:prstGeom>
          <a:noFill/>
        </p:spPr>
        <p:txBody>
          <a:bodyPr wrap="square" anchor="t" lIns="45720" rIns="45720" tIns="27432" bIns="27432">
            <a:spAutoFit/>
          </a:bodyPr>
          <a:lstStyle/>
          <a:p>
            <a:pPr algn="l">
              <a:spcAft>
                <a:spcPts val="400"/>
              </a:spcAft>
            </a:pPr>
            <a:r>
              <a:rPr sz="3400" b="1">
                <a:solidFill>
                  <a:srgbClr val="FFFFFF"/>
                </a:solidFill>
                <a:latin typeface="Segoe UI"/>
              </a:rPr>
              <a:t>Powering the Southern University LIFT Rural Business Center</a:t>
            </a:r>
          </a:p>
        </p:txBody>
      </p:sp>
      <p:sp>
        <p:nvSpPr>
          <p:cNvPr id="9" name="TextBox 8"/>
          <p:cNvSpPr txBox="1"/>
          <p:nvPr/>
        </p:nvSpPr>
        <p:spPr>
          <a:xfrm>
            <a:off x="731520" y="4069080"/>
            <a:ext cx="6949440" cy="914400"/>
          </a:xfrm>
          <a:prstGeom prst="rect">
            <a:avLst/>
          </a:prstGeom>
          <a:noFill/>
        </p:spPr>
        <p:txBody>
          <a:bodyPr wrap="square" anchor="t" lIns="45720" rIns="45720" tIns="27432" bIns="27432">
            <a:spAutoFit/>
          </a:bodyPr>
          <a:lstStyle/>
          <a:p>
            <a:pPr algn="l">
              <a:spcAft>
                <a:spcPts val="400"/>
              </a:spcAft>
            </a:pPr>
            <a:r>
              <a:rPr sz="1600" b="0">
                <a:solidFill>
                  <a:srgbClr val="DBE4EE"/>
                </a:solidFill>
                <a:latin typeface="Segoe UI"/>
              </a:rPr>
              <a:t>How the SVP Platform meets MBDA Rural Business Center requirements — and the plan to close the remaining gaps.</a:t>
            </a:r>
          </a:p>
        </p:txBody>
      </p:sp>
      <p:sp>
        <p:nvSpPr>
          <p:cNvPr id="10" name="Rectangle 9"/>
          <p:cNvSpPr/>
          <p:nvPr/>
        </p:nvSpPr>
        <p:spPr>
          <a:xfrm>
            <a:off x="749808" y="5212080"/>
            <a:ext cx="10972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394960"/>
            <a:ext cx="7315200" cy="822960"/>
          </a:xfrm>
          <a:prstGeom prst="rect">
            <a:avLst/>
          </a:prstGeom>
          <a:noFill/>
        </p:spPr>
        <p:txBody>
          <a:bodyPr wrap="square" anchor="t" lIns="45720" rIns="45720" tIns="27432" bIns="27432">
            <a:spAutoFit/>
          </a:bodyPr>
          <a:lstStyle/>
          <a:p>
            <a:pPr algn="l">
              <a:spcAft>
                <a:spcPts val="400"/>
              </a:spcAft>
            </a:pPr>
            <a:r>
              <a:rPr sz="1200" b="0">
                <a:solidFill>
                  <a:srgbClr val="DBE4EE"/>
                </a:solidFill>
                <a:latin typeface="Segoe UI"/>
              </a:rPr>
              <a:t>MBDA-OBC-2026-00003  ·  Southern University and A&amp;M College, College of Business</a:t>
            </a:r>
          </a:p>
          <a:p>
            <a:pPr algn="l">
              <a:spcAft>
                <a:spcPts val="400"/>
              </a:spcAft>
            </a:pPr>
            <a:r>
              <a:rPr sz="1200" b="0">
                <a:solidFill>
                  <a:srgbClr val="DBE4EE"/>
                </a:solidFill>
                <a:latin typeface="Segoe UI"/>
              </a:rPr>
              <a:t>Prepared by KDM &amp; Associates, LLC  ·  October 2026  ·  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THE OPPORTUNITY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One of only three HBCU-led MBDA Rural Business Centers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2</a:t>
            </a:r>
          </a:p>
        </p:txBody>
      </p:sp>
      <p:sp>
        <p:nvSpPr>
          <p:cNvPr id="9" name="Rounded Rectangle 8"/>
          <p:cNvSpPr/>
          <p:nvPr/>
        </p:nvSpPr>
        <p:spPr>
          <a:xfrm>
            <a:off x="548640" y="1508760"/>
            <a:ext cx="2606040" cy="132588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19"/>
            <a:ext cx="2606040" cy="640080"/>
          </a:xfrm>
          <a:prstGeom prst="rect">
            <a:avLst/>
          </a:prstGeom>
          <a:noFill/>
        </p:spPr>
        <p:txBody>
          <a:bodyPr wrap="square" anchor="t" lIns="45720" rIns="45720" tIns="27432" bIns="27432">
            <a:spAutoFit/>
          </a:bodyPr>
          <a:lstStyle/>
          <a:p>
            <a:pPr algn="ctr">
              <a:spcAft>
                <a:spcPts val="400"/>
              </a:spcAft>
            </a:pPr>
            <a:r>
              <a:rPr sz="3000" b="1">
                <a:solidFill>
                  <a:srgbClr val="C9A227"/>
                </a:solidFill>
                <a:latin typeface="Segoe UI"/>
              </a:rPr>
              <a:t>$1.275M</a:t>
            </a:r>
          </a:p>
        </p:txBody>
      </p:sp>
      <p:sp>
        <p:nvSpPr>
          <p:cNvPr id="11" name="TextBox 10"/>
          <p:cNvSpPr txBox="1"/>
          <p:nvPr/>
        </p:nvSpPr>
        <p:spPr>
          <a:xfrm>
            <a:off x="640080" y="2313432"/>
            <a:ext cx="2423160" cy="457200"/>
          </a:xfrm>
          <a:prstGeom prst="rect">
            <a:avLst/>
          </a:prstGeom>
          <a:noFill/>
        </p:spPr>
        <p:txBody>
          <a:bodyPr wrap="square" anchor="t" lIns="45720" rIns="45720" tIns="27432" bIns="27432">
            <a:spAutoFit/>
          </a:bodyPr>
          <a:lstStyle/>
          <a:p>
            <a:pPr algn="ctr">
              <a:spcAft>
                <a:spcPts val="400"/>
              </a:spcAft>
            </a:pPr>
            <a:r>
              <a:rPr sz="1100" b="0">
                <a:solidFill>
                  <a:srgbClr val="FFFFFF"/>
                </a:solidFill>
                <a:latin typeface="Segoe UI"/>
              </a:rPr>
              <a:t>3-year MBDA cooperative agreement (Sept 2026 – Aug 2029)</a:t>
            </a:r>
          </a:p>
        </p:txBody>
      </p:sp>
      <p:sp>
        <p:nvSpPr>
          <p:cNvPr id="12" name="Rounded Rectangle 11"/>
          <p:cNvSpPr/>
          <p:nvPr/>
        </p:nvSpPr>
        <p:spPr>
          <a:xfrm>
            <a:off x="3337560" y="1508760"/>
            <a:ext cx="260604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645919"/>
            <a:ext cx="2606040" cy="640080"/>
          </a:xfrm>
          <a:prstGeom prst="rect">
            <a:avLst/>
          </a:prstGeom>
          <a:noFill/>
        </p:spPr>
        <p:txBody>
          <a:bodyPr wrap="square" anchor="t" lIns="45720" rIns="45720" tIns="27432" bIns="27432">
            <a:spAutoFit/>
          </a:bodyPr>
          <a:lstStyle/>
          <a:p>
            <a:pPr algn="ctr">
              <a:spcAft>
                <a:spcPts val="400"/>
              </a:spcAft>
            </a:pPr>
            <a:r>
              <a:rPr sz="3000" b="1">
                <a:solidFill>
                  <a:srgbClr val="0B2545"/>
                </a:solidFill>
                <a:latin typeface="Segoe UI"/>
              </a:rPr>
              <a:t>500</a:t>
            </a:r>
          </a:p>
        </p:txBody>
      </p:sp>
      <p:sp>
        <p:nvSpPr>
          <p:cNvPr id="14" name="TextBox 13"/>
          <p:cNvSpPr txBox="1"/>
          <p:nvPr/>
        </p:nvSpPr>
        <p:spPr>
          <a:xfrm>
            <a:off x="3429000" y="2313432"/>
            <a:ext cx="2423160" cy="457200"/>
          </a:xfrm>
          <a:prstGeom prst="rect">
            <a:avLst/>
          </a:prstGeom>
          <a:noFill/>
        </p:spPr>
        <p:txBody>
          <a:bodyPr wrap="square" anchor="t" lIns="45720" rIns="45720" tIns="27432" bIns="27432">
            <a:spAutoFit/>
          </a:bodyPr>
          <a:lstStyle/>
          <a:p>
            <a:pPr algn="ctr">
              <a:spcAft>
                <a:spcPts val="400"/>
              </a:spcAft>
            </a:pPr>
            <a:r>
              <a:rPr sz="1100" b="0">
                <a:solidFill>
                  <a:srgbClr val="5F6B7A"/>
                </a:solidFill>
                <a:latin typeface="Segoe UI"/>
              </a:rPr>
              <a:t>Clients served over three years</a:t>
            </a:r>
          </a:p>
        </p:txBody>
      </p:sp>
      <p:sp>
        <p:nvSpPr>
          <p:cNvPr id="15" name="Rounded Rectangle 14"/>
          <p:cNvSpPr/>
          <p:nvPr/>
        </p:nvSpPr>
        <p:spPr>
          <a:xfrm>
            <a:off x="6126480" y="1508760"/>
            <a:ext cx="260604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645919"/>
            <a:ext cx="2606040" cy="640080"/>
          </a:xfrm>
          <a:prstGeom prst="rect">
            <a:avLst/>
          </a:prstGeom>
          <a:noFill/>
        </p:spPr>
        <p:txBody>
          <a:bodyPr wrap="square" anchor="t" lIns="45720" rIns="45720" tIns="27432" bIns="27432">
            <a:spAutoFit/>
          </a:bodyPr>
          <a:lstStyle/>
          <a:p>
            <a:pPr algn="ctr">
              <a:spcAft>
                <a:spcPts val="400"/>
              </a:spcAft>
            </a:pPr>
            <a:r>
              <a:rPr sz="3000" b="1">
                <a:solidFill>
                  <a:srgbClr val="0B2545"/>
                </a:solidFill>
                <a:latin typeface="Segoe UI"/>
              </a:rPr>
              <a:t>50</a:t>
            </a:r>
          </a:p>
        </p:txBody>
      </p:sp>
      <p:sp>
        <p:nvSpPr>
          <p:cNvPr id="17" name="TextBox 16"/>
          <p:cNvSpPr txBox="1"/>
          <p:nvPr/>
        </p:nvSpPr>
        <p:spPr>
          <a:xfrm>
            <a:off x="6217920" y="2313432"/>
            <a:ext cx="2423160" cy="457200"/>
          </a:xfrm>
          <a:prstGeom prst="rect">
            <a:avLst/>
          </a:prstGeom>
          <a:noFill/>
        </p:spPr>
        <p:txBody>
          <a:bodyPr wrap="square" anchor="t" lIns="45720" rIns="45720" tIns="27432" bIns="27432">
            <a:spAutoFit/>
          </a:bodyPr>
          <a:lstStyle/>
          <a:p>
            <a:pPr algn="ctr">
              <a:spcAft>
                <a:spcPts val="400"/>
              </a:spcAft>
            </a:pPr>
            <a:r>
              <a:rPr sz="1100" b="0">
                <a:solidFill>
                  <a:srgbClr val="5F6B7A"/>
                </a:solidFill>
                <a:latin typeface="Segoe UI"/>
              </a:rPr>
              <a:t>New businesses entering the federal supply chain</a:t>
            </a:r>
          </a:p>
        </p:txBody>
      </p:sp>
      <p:sp>
        <p:nvSpPr>
          <p:cNvPr id="18" name="Rounded Rectangle 17"/>
          <p:cNvSpPr/>
          <p:nvPr/>
        </p:nvSpPr>
        <p:spPr>
          <a:xfrm>
            <a:off x="8915400" y="1508760"/>
            <a:ext cx="269748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645919"/>
            <a:ext cx="2697480" cy="640080"/>
          </a:xfrm>
          <a:prstGeom prst="rect">
            <a:avLst/>
          </a:prstGeom>
          <a:noFill/>
        </p:spPr>
        <p:txBody>
          <a:bodyPr wrap="square" anchor="t" lIns="45720" rIns="45720" tIns="27432" bIns="27432">
            <a:spAutoFit/>
          </a:bodyPr>
          <a:lstStyle/>
          <a:p>
            <a:pPr algn="ctr">
              <a:spcAft>
                <a:spcPts val="400"/>
              </a:spcAft>
            </a:pPr>
            <a:r>
              <a:rPr sz="3000" b="1">
                <a:solidFill>
                  <a:srgbClr val="0B2545"/>
                </a:solidFill>
                <a:latin typeface="Segoe UI"/>
              </a:rPr>
              <a:t>600</a:t>
            </a:r>
          </a:p>
        </p:txBody>
      </p:sp>
      <p:sp>
        <p:nvSpPr>
          <p:cNvPr id="20" name="TextBox 19"/>
          <p:cNvSpPr txBox="1"/>
          <p:nvPr/>
        </p:nvSpPr>
        <p:spPr>
          <a:xfrm>
            <a:off x="9006840" y="2313432"/>
            <a:ext cx="2514600" cy="457200"/>
          </a:xfrm>
          <a:prstGeom prst="rect">
            <a:avLst/>
          </a:prstGeom>
          <a:noFill/>
        </p:spPr>
        <p:txBody>
          <a:bodyPr wrap="square" anchor="t" lIns="45720" rIns="45720" tIns="27432" bIns="27432">
            <a:spAutoFit/>
          </a:bodyPr>
          <a:lstStyle/>
          <a:p>
            <a:pPr algn="ctr">
              <a:spcAft>
                <a:spcPts val="400"/>
              </a:spcAft>
            </a:pPr>
            <a:r>
              <a:rPr sz="1100" b="0">
                <a:solidFill>
                  <a:srgbClr val="5F6B7A"/>
                </a:solidFill>
                <a:latin typeface="Segoe UI"/>
              </a:rPr>
              <a:t>Jobs supported · $2.125M capital accessed</a:t>
            </a:r>
          </a:p>
        </p:txBody>
      </p:sp>
      <p:sp>
        <p:nvSpPr>
          <p:cNvPr id="21" name="Rounded Rectangle 20"/>
          <p:cNvSpPr/>
          <p:nvPr/>
        </p:nvSpPr>
        <p:spPr>
          <a:xfrm>
            <a:off x="548640" y="3108960"/>
            <a:ext cx="5486400" cy="315468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218688"/>
            <a:ext cx="64008" cy="293522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218688"/>
            <a:ext cx="516636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What the Center delivers</a:t>
            </a:r>
          </a:p>
        </p:txBody>
      </p:sp>
      <p:sp>
        <p:nvSpPr>
          <p:cNvPr id="24" name="TextBox 23"/>
          <p:cNvSpPr txBox="1"/>
          <p:nvPr/>
        </p:nvSpPr>
        <p:spPr>
          <a:xfrm>
            <a:off x="749808" y="3657600"/>
            <a:ext cx="5166360" cy="251460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Business formation, growth, and capital readiness</a:t>
            </a:r>
          </a:p>
          <a:p>
            <a:pPr algn="l">
              <a:spcAft>
                <a:spcPts val="600"/>
              </a:spcAft>
            </a:pPr>
            <a:r>
              <a:rPr sz="1400" b="0">
                <a:solidFill>
                  <a:srgbClr val="1F2933"/>
                </a:solidFill>
                <a:latin typeface="Segoe UI"/>
              </a:rPr>
              <a:t>•  Procurement readiness: federal contracting, CMMC, HUBZone, OZ, mentor-protégé</a:t>
            </a:r>
          </a:p>
          <a:p>
            <a:pPr algn="l">
              <a:spcAft>
                <a:spcPts val="600"/>
              </a:spcAft>
            </a:pPr>
            <a:r>
              <a:rPr sz="1400" b="0">
                <a:solidFill>
                  <a:srgbClr val="1F2933"/>
                </a:solidFill>
                <a:latin typeface="Segoe UI"/>
              </a:rPr>
              <a:t>•  Advanced Metal Additive Manufacturing business program</a:t>
            </a:r>
          </a:p>
          <a:p>
            <a:pPr algn="l">
              <a:spcAft>
                <a:spcPts val="600"/>
              </a:spcAft>
            </a:pPr>
            <a:r>
              <a:rPr sz="1400" b="0">
                <a:solidFill>
                  <a:srgbClr val="1F2933"/>
                </a:solidFill>
                <a:latin typeface="Segoe UI"/>
              </a:rPr>
              <a:t>•  Digital literacy, AI adoption, and cybersecurity readiness</a:t>
            </a:r>
          </a:p>
          <a:p>
            <a:pPr algn="l">
              <a:spcAft>
                <a:spcPts val="600"/>
              </a:spcAft>
            </a:pPr>
            <a:r>
              <a:rPr sz="1400" b="0">
                <a:solidFill>
                  <a:srgbClr val="1F2933"/>
                </a:solidFill>
                <a:latin typeface="Segoe UI"/>
              </a:rPr>
              <a:t>•  One coordinated point of entry across Southern units and partners</a:t>
            </a:r>
          </a:p>
        </p:txBody>
      </p:sp>
      <p:sp>
        <p:nvSpPr>
          <p:cNvPr id="25" name="Rounded Rectangle 24"/>
          <p:cNvSpPr/>
          <p:nvPr/>
        </p:nvSpPr>
        <p:spPr>
          <a:xfrm>
            <a:off x="6263640" y="3108960"/>
            <a:ext cx="5349240" cy="315468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218688"/>
            <a:ext cx="64008" cy="293522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7" y="3218688"/>
            <a:ext cx="502920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What the platform must do (MOU §3)</a:t>
            </a:r>
          </a:p>
        </p:txBody>
      </p:sp>
      <p:sp>
        <p:nvSpPr>
          <p:cNvPr id="28" name="TextBox 27"/>
          <p:cNvSpPr txBox="1"/>
          <p:nvPr/>
        </p:nvSpPr>
        <p:spPr>
          <a:xfrm>
            <a:off x="6464807" y="3657600"/>
            <a:ext cx="5029200" cy="251460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Intake, CRM, data tracking, and reporting</a:t>
            </a:r>
          </a:p>
          <a:p>
            <a:pPr algn="l">
              <a:spcAft>
                <a:spcPts val="600"/>
              </a:spcAft>
            </a:pPr>
            <a:r>
              <a:rPr sz="1400" b="0">
                <a:solidFill>
                  <a:srgbClr val="1F2933"/>
                </a:solidFill>
                <a:latin typeface="Segoe UI"/>
              </a:rPr>
              <a:t>•  Assess needs and route clients to services</a:t>
            </a:r>
          </a:p>
          <a:p>
            <a:pPr algn="l">
              <a:spcAft>
                <a:spcPts val="600"/>
              </a:spcAft>
            </a:pPr>
            <a:r>
              <a:rPr sz="1400" b="0">
                <a:solidFill>
                  <a:srgbClr val="1F2933"/>
                </a:solidFill>
                <a:latin typeface="Segoe UI"/>
              </a:rPr>
              <a:t>•  Monitor progress at every touchpoint</a:t>
            </a:r>
          </a:p>
          <a:p>
            <a:pPr algn="l">
              <a:spcAft>
                <a:spcPts val="600"/>
              </a:spcAft>
            </a:pPr>
            <a:r>
              <a:rPr sz="1400" b="0">
                <a:solidFill>
                  <a:srgbClr val="1F2933"/>
                </a:solidFill>
                <a:latin typeface="Segoe UI"/>
              </a:rPr>
              <a:t>•  Report against MBDA performance measures</a:t>
            </a:r>
          </a:p>
          <a:p>
            <a:pPr algn="l">
              <a:spcAft>
                <a:spcPts val="600"/>
              </a:spcAft>
            </a:pPr>
            <a:r>
              <a:rPr sz="1400" b="0">
                <a:solidFill>
                  <a:srgbClr val="1F2933"/>
                </a:solidFill>
                <a:latin typeface="Segoe UI"/>
              </a:rPr>
              <a:t>•  Protect PII and confidential business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WHAT SUCCESS LOOKS LIKE</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MBDA scores the Center on evidence-backed outcomes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3</a:t>
            </a:r>
          </a:p>
        </p:txBody>
      </p:sp>
      <p:graphicFrame>
        <p:nvGraphicFramePr>
          <p:cNvPr id="9" name="Table 8"/>
          <p:cNvGraphicFramePr>
            <a:graphicFrameLocks noGrp="1"/>
          </p:cNvGraphicFramePr>
          <p:nvPr/>
        </p:nvGraphicFramePr>
        <p:xfrm>
          <a:off x="548640" y="1463040"/>
          <a:ext cx="11064240" cy="3840480"/>
        </p:xfrm>
        <a:graphic>
          <a:graphicData uri="http://schemas.openxmlformats.org/drawingml/2006/table">
            <a:tbl>
              <a:tblPr firstRow="1" bandRow="1">
                <a:tableStyleId>{5C22544A-7EE6-4342-B048-85BDC9FD1C3A}</a:tableStyleId>
              </a:tblPr>
              <a:tblGrid>
                <a:gridCol w="3291840"/>
                <a:gridCol w="1005840"/>
                <a:gridCol w="3931920"/>
                <a:gridCol w="2834640"/>
              </a:tblGrid>
              <a:tr h="548640">
                <a:tc>
                  <a:txBody>
                    <a:bodyPr wrap="square"/>
                    <a:lstStyle/>
                    <a:p>
                      <a:r>
                        <a:rPr sz="1150" b="1">
                          <a:solidFill>
                            <a:srgbClr val="FFFFFF"/>
                          </a:solidFill>
                          <a:latin typeface="Segoe UI"/>
                        </a:rPr>
                        <a:t>Measure</a:t>
                      </a:r>
                    </a:p>
                  </a:txBody>
                  <a:tcPr marL="73152" marR="73152" marT="36576" marB="36576" anchor="ctr">
                    <a:solidFill>
                      <a:srgbClr val="0B2545"/>
                    </a:solidFill>
                  </a:tcPr>
                </a:tc>
                <a:tc>
                  <a:txBody>
                    <a:bodyPr wrap="square"/>
                    <a:lstStyle/>
                    <a:p>
                      <a:r>
                        <a:rPr sz="1150" b="1">
                          <a:solidFill>
                            <a:srgbClr val="FFFFFF"/>
                          </a:solidFill>
                          <a:latin typeface="Segoe UI"/>
                        </a:rPr>
                        <a:t>Type</a:t>
                      </a:r>
                    </a:p>
                  </a:txBody>
                  <a:tcPr marL="73152" marR="73152" marT="36576" marB="36576" anchor="ctr">
                    <a:solidFill>
                      <a:srgbClr val="0B2545"/>
                    </a:solidFill>
                  </a:tcPr>
                </a:tc>
                <a:tc>
                  <a:txBody>
                    <a:bodyPr wrap="square"/>
                    <a:lstStyle/>
                    <a:p>
                      <a:r>
                        <a:rPr sz="1150" b="1">
                          <a:solidFill>
                            <a:srgbClr val="FFFFFF"/>
                          </a:solidFill>
                          <a:latin typeface="Segoe UI"/>
                        </a:rPr>
                        <a:t>Definition</a:t>
                      </a:r>
                    </a:p>
                  </a:txBody>
                  <a:tcPr marL="73152" marR="73152" marT="36576" marB="36576" anchor="ctr">
                    <a:solidFill>
                      <a:srgbClr val="0B2545"/>
                    </a:solidFill>
                  </a:tcPr>
                </a:tc>
                <a:tc>
                  <a:txBody>
                    <a:bodyPr wrap="square"/>
                    <a:lstStyle/>
                    <a:p>
                      <a:r>
                        <a:rPr sz="1150" b="1">
                          <a:solidFill>
                            <a:srgbClr val="FFFFFF"/>
                          </a:solidFill>
                          <a:latin typeface="Segoe UI"/>
                        </a:rPr>
                        <a:t>Verification evidence</a:t>
                      </a:r>
                    </a:p>
                  </a:txBody>
                  <a:tcPr marL="73152" marR="73152" marT="36576" marB="36576" anchor="ctr">
                    <a:solidFill>
                      <a:srgbClr val="0B2545"/>
                    </a:solidFill>
                  </a:tcPr>
                </a:tc>
              </a:tr>
              <a:tr h="548640">
                <a:tc>
                  <a:txBody>
                    <a:bodyPr wrap="square"/>
                    <a:lstStyle/>
                    <a:p>
                      <a:r>
                        <a:rPr sz="1150" b="0">
                          <a:solidFill>
                            <a:srgbClr val="1F2933"/>
                          </a:solidFill>
                          <a:latin typeface="Segoe UI"/>
                        </a:rPr>
                        <a:t>Clients Served</a:t>
                      </a:r>
                    </a:p>
                  </a:txBody>
                  <a:tcPr marL="73152" marR="73152" marT="36576" marB="36576" anchor="ctr">
                    <a:solidFill>
                      <a:srgbClr val="FFFFFF"/>
                    </a:solidFill>
                  </a:tcPr>
                </a:tc>
                <a:tc>
                  <a:txBody>
                    <a:bodyPr wrap="square"/>
                    <a:lstStyle/>
                    <a:p>
                      <a:r>
                        <a:rPr sz="1150" b="0">
                          <a:solidFill>
                            <a:srgbClr val="1F2933"/>
                          </a:solidFill>
                          <a:latin typeface="Segoe UI"/>
                        </a:rPr>
                        <a:t>Core</a:t>
                      </a:r>
                    </a:p>
                  </a:txBody>
                  <a:tcPr marL="73152" marR="73152" marT="36576" marB="36576" anchor="ctr">
                    <a:solidFill>
                      <a:srgbClr val="FFFFFF"/>
                    </a:solidFill>
                  </a:tcPr>
                </a:tc>
                <a:tc>
                  <a:txBody>
                    <a:bodyPr wrap="square"/>
                    <a:lstStyle/>
                    <a:p>
                      <a:r>
                        <a:rPr sz="1150" b="0">
                          <a:solidFill>
                            <a:srgbClr val="1F2933"/>
                          </a:solidFill>
                          <a:latin typeface="Segoe UI"/>
                        </a:rPr>
                        <a:t>Unique clients counseled or trained (≥1 session)</a:t>
                      </a:r>
                    </a:p>
                  </a:txBody>
                  <a:tcPr marL="73152" marR="73152" marT="36576" marB="36576" anchor="ctr">
                    <a:solidFill>
                      <a:srgbClr val="FFFFFF"/>
                    </a:solidFill>
                  </a:tcPr>
                </a:tc>
                <a:tc>
                  <a:txBody>
                    <a:bodyPr wrap="square"/>
                    <a:lstStyle/>
                    <a:p>
                      <a:r>
                        <a:rPr sz="1150" b="0">
                          <a:solidFill>
                            <a:srgbClr val="1F2933"/>
                          </a:solidFill>
                          <a:latin typeface="Segoe UI"/>
                        </a:rPr>
                        <a:t>Intake / CRM records</a:t>
                      </a:r>
                    </a:p>
                  </a:txBody>
                  <a:tcPr marL="73152" marR="73152" marT="36576" marB="36576" anchor="ctr">
                    <a:solidFill>
                      <a:srgbClr val="FFFFFF"/>
                    </a:solidFill>
                  </a:tcPr>
                </a:tc>
              </a:tr>
              <a:tr h="548640">
                <a:tc>
                  <a:txBody>
                    <a:bodyPr wrap="square"/>
                    <a:lstStyle/>
                    <a:p>
                      <a:r>
                        <a:rPr sz="1150" b="0">
                          <a:solidFill>
                            <a:srgbClr val="1F2933"/>
                          </a:solidFill>
                          <a:latin typeface="Segoe UI"/>
                        </a:rPr>
                        <a:t>New Business Starts</a:t>
                      </a:r>
                    </a:p>
                  </a:txBody>
                  <a:tcPr marL="73152" marR="73152" marT="36576" marB="36576" anchor="ctr">
                    <a:solidFill>
                      <a:srgbClr val="F4F7FB"/>
                    </a:solidFill>
                  </a:tcPr>
                </a:tc>
                <a:tc>
                  <a:txBody>
                    <a:bodyPr wrap="square"/>
                    <a:lstStyle/>
                    <a:p>
                      <a:r>
                        <a:rPr sz="1150" b="0">
                          <a:solidFill>
                            <a:srgbClr val="1F2933"/>
                          </a:solidFill>
                          <a:latin typeface="Segoe UI"/>
                        </a:rPr>
                        <a:t>Core</a:t>
                      </a:r>
                    </a:p>
                  </a:txBody>
                  <a:tcPr marL="73152" marR="73152" marT="36576" marB="36576" anchor="ctr">
                    <a:solidFill>
                      <a:srgbClr val="F4F7FB"/>
                    </a:solidFill>
                  </a:tcPr>
                </a:tc>
                <a:tc>
                  <a:txBody>
                    <a:bodyPr wrap="square"/>
                    <a:lstStyle/>
                    <a:p>
                      <a:r>
                        <a:rPr sz="1150" b="0">
                          <a:solidFill>
                            <a:srgbClr val="1F2933"/>
                          </a:solidFill>
                          <a:latin typeface="Segoe UI"/>
                        </a:rPr>
                        <a:t>Registration after enrollment + qualifying activity</a:t>
                      </a:r>
                    </a:p>
                  </a:txBody>
                  <a:tcPr marL="73152" marR="73152" marT="36576" marB="36576" anchor="ctr">
                    <a:solidFill>
                      <a:srgbClr val="F4F7FB"/>
                    </a:solidFill>
                  </a:tcPr>
                </a:tc>
                <a:tc>
                  <a:txBody>
                    <a:bodyPr wrap="square"/>
                    <a:lstStyle/>
                    <a:p>
                      <a:r>
                        <a:rPr sz="1150" b="0">
                          <a:solidFill>
                            <a:srgbClr val="1F2933"/>
                          </a:solidFill>
                          <a:latin typeface="Segoe UI"/>
                        </a:rPr>
                        <a:t>Business registration</a:t>
                      </a:r>
                    </a:p>
                  </a:txBody>
                  <a:tcPr marL="73152" marR="73152" marT="36576" marB="36576" anchor="ctr">
                    <a:solidFill>
                      <a:srgbClr val="F4F7FB"/>
                    </a:solidFill>
                  </a:tcPr>
                </a:tc>
              </a:tr>
              <a:tr h="548640">
                <a:tc>
                  <a:txBody>
                    <a:bodyPr wrap="square"/>
                    <a:lstStyle/>
                    <a:p>
                      <a:r>
                        <a:rPr sz="1150" b="0">
                          <a:solidFill>
                            <a:srgbClr val="1F2933"/>
                          </a:solidFill>
                          <a:latin typeface="Segoe UI"/>
                        </a:rPr>
                        <a:t>Capital Infusion</a:t>
                      </a:r>
                    </a:p>
                  </a:txBody>
                  <a:tcPr marL="73152" marR="73152" marT="36576" marB="36576" anchor="ctr">
                    <a:solidFill>
                      <a:srgbClr val="FFFFFF"/>
                    </a:solidFill>
                  </a:tcPr>
                </a:tc>
                <a:tc>
                  <a:txBody>
                    <a:bodyPr wrap="square"/>
                    <a:lstStyle/>
                    <a:p>
                      <a:r>
                        <a:rPr sz="1150" b="0">
                          <a:solidFill>
                            <a:srgbClr val="1F2933"/>
                          </a:solidFill>
                          <a:latin typeface="Segoe UI"/>
                        </a:rPr>
                        <a:t>Core</a:t>
                      </a:r>
                    </a:p>
                  </a:txBody>
                  <a:tcPr marL="73152" marR="73152" marT="36576" marB="36576" anchor="ctr">
                    <a:solidFill>
                      <a:srgbClr val="FFFFFF"/>
                    </a:solidFill>
                  </a:tcPr>
                </a:tc>
                <a:tc>
                  <a:txBody>
                    <a:bodyPr wrap="square"/>
                    <a:lstStyle/>
                    <a:p>
                      <a:r>
                        <a:rPr sz="1150" b="0">
                          <a:solidFill>
                            <a:srgbClr val="1F2933"/>
                          </a:solidFill>
                          <a:latin typeface="Segoe UI"/>
                        </a:rPr>
                        <a:t>Debt and investment from all sources</a:t>
                      </a:r>
                    </a:p>
                  </a:txBody>
                  <a:tcPr marL="73152" marR="73152" marT="36576" marB="36576" anchor="ctr">
                    <a:solidFill>
                      <a:srgbClr val="FFFFFF"/>
                    </a:solidFill>
                  </a:tcPr>
                </a:tc>
                <a:tc>
                  <a:txBody>
                    <a:bodyPr wrap="square"/>
                    <a:lstStyle/>
                    <a:p>
                      <a:r>
                        <a:rPr sz="1150" b="0">
                          <a:solidFill>
                            <a:srgbClr val="1F2933"/>
                          </a:solidFill>
                          <a:latin typeface="Segoe UI"/>
                        </a:rPr>
                        <a:t>Financial documents</a:t>
                      </a:r>
                    </a:p>
                  </a:txBody>
                  <a:tcPr marL="73152" marR="73152" marT="36576" marB="36576" anchor="ctr">
                    <a:solidFill>
                      <a:srgbClr val="FFFFFF"/>
                    </a:solidFill>
                  </a:tcPr>
                </a:tc>
              </a:tr>
              <a:tr h="548640">
                <a:tc>
                  <a:txBody>
                    <a:bodyPr wrap="square"/>
                    <a:lstStyle/>
                    <a:p>
                      <a:r>
                        <a:rPr sz="1150" b="0">
                          <a:solidFill>
                            <a:srgbClr val="1F2933"/>
                          </a:solidFill>
                          <a:latin typeface="Segoe UI"/>
                        </a:rPr>
                        <a:t>Jobs Supported</a:t>
                      </a:r>
                    </a:p>
                  </a:txBody>
                  <a:tcPr marL="73152" marR="73152" marT="36576" marB="36576" anchor="ctr">
                    <a:solidFill>
                      <a:srgbClr val="F4F7FB"/>
                    </a:solidFill>
                  </a:tcPr>
                </a:tc>
                <a:tc>
                  <a:txBody>
                    <a:bodyPr wrap="square"/>
                    <a:lstStyle/>
                    <a:p>
                      <a:r>
                        <a:rPr sz="1150" b="0">
                          <a:solidFill>
                            <a:srgbClr val="1F2933"/>
                          </a:solidFill>
                          <a:latin typeface="Segoe UI"/>
                        </a:rPr>
                        <a:t>Core</a:t>
                      </a:r>
                    </a:p>
                  </a:txBody>
                  <a:tcPr marL="73152" marR="73152" marT="36576" marB="36576" anchor="ctr">
                    <a:solidFill>
                      <a:srgbClr val="F4F7FB"/>
                    </a:solidFill>
                  </a:tcPr>
                </a:tc>
                <a:tc>
                  <a:txBody>
                    <a:bodyPr wrap="square"/>
                    <a:lstStyle/>
                    <a:p>
                      <a:r>
                        <a:rPr sz="1150" b="0">
                          <a:solidFill>
                            <a:srgbClr val="1F2933"/>
                          </a:solidFill>
                          <a:latin typeface="Segoe UI"/>
                        </a:rPr>
                        <a:t>Jobs created or retained with Center help</a:t>
                      </a:r>
                    </a:p>
                  </a:txBody>
                  <a:tcPr marL="73152" marR="73152" marT="36576" marB="36576" anchor="ctr">
                    <a:solidFill>
                      <a:srgbClr val="F4F7FB"/>
                    </a:solidFill>
                  </a:tcPr>
                </a:tc>
                <a:tc>
                  <a:txBody>
                    <a:bodyPr wrap="square"/>
                    <a:lstStyle/>
                    <a:p>
                      <a:r>
                        <a:rPr sz="1150" b="0">
                          <a:solidFill>
                            <a:srgbClr val="1F2933"/>
                          </a:solidFill>
                          <a:latin typeface="Segoe UI"/>
                        </a:rPr>
                        <a:t>Payroll / self-report</a:t>
                      </a:r>
                    </a:p>
                  </a:txBody>
                  <a:tcPr marL="73152" marR="73152" marT="36576" marB="36576" anchor="ctr">
                    <a:solidFill>
                      <a:srgbClr val="F4F7FB"/>
                    </a:solidFill>
                  </a:tcPr>
                </a:tc>
              </a:tr>
              <a:tr h="548640">
                <a:tc>
                  <a:txBody>
                    <a:bodyPr wrap="square"/>
                    <a:lstStyle/>
                    <a:p>
                      <a:r>
                        <a:rPr sz="1150" b="0">
                          <a:solidFill>
                            <a:srgbClr val="1F2933"/>
                          </a:solidFill>
                          <a:latin typeface="Segoe UI"/>
                        </a:rPr>
                        <a:t>Revenue Growth</a:t>
                      </a:r>
                    </a:p>
                  </a:txBody>
                  <a:tcPr marL="73152" marR="73152" marT="36576" marB="36576" anchor="ctr">
                    <a:solidFill>
                      <a:srgbClr val="FFFFFF"/>
                    </a:solidFill>
                  </a:tcPr>
                </a:tc>
                <a:tc>
                  <a:txBody>
                    <a:bodyPr wrap="square"/>
                    <a:lstStyle/>
                    <a:p>
                      <a:r>
                        <a:rPr sz="1150" b="0">
                          <a:solidFill>
                            <a:srgbClr val="1F2933"/>
                          </a:solidFill>
                          <a:latin typeface="Segoe UI"/>
                        </a:rPr>
                        <a:t>Core</a:t>
                      </a:r>
                    </a:p>
                  </a:txBody>
                  <a:tcPr marL="73152" marR="73152" marT="36576" marB="36576" anchor="ctr">
                    <a:solidFill>
                      <a:srgbClr val="FFFFFF"/>
                    </a:solidFill>
                  </a:tcPr>
                </a:tc>
                <a:tc>
                  <a:txBody>
                    <a:bodyPr wrap="square"/>
                    <a:lstStyle/>
                    <a:p>
                      <a:r>
                        <a:rPr sz="1150" b="0">
                          <a:solidFill>
                            <a:srgbClr val="1F2933"/>
                          </a:solidFill>
                          <a:latin typeface="Segoe UI"/>
                        </a:rPr>
                        <a:t>% of businesses with 12-month revenue increase</a:t>
                      </a:r>
                    </a:p>
                  </a:txBody>
                  <a:tcPr marL="73152" marR="73152" marT="36576" marB="36576" anchor="ctr">
                    <a:solidFill>
                      <a:srgbClr val="FFFFFF"/>
                    </a:solidFill>
                  </a:tcPr>
                </a:tc>
                <a:tc>
                  <a:txBody>
                    <a:bodyPr wrap="square"/>
                    <a:lstStyle/>
                    <a:p>
                      <a:r>
                        <a:rPr sz="1150" b="0">
                          <a:solidFill>
                            <a:srgbClr val="1F2933"/>
                          </a:solidFill>
                          <a:latin typeface="Segoe UI"/>
                        </a:rPr>
                        <a:t>Pre/post financials</a:t>
                      </a:r>
                    </a:p>
                  </a:txBody>
                  <a:tcPr marL="73152" marR="73152" marT="36576" marB="36576" anchor="ctr">
                    <a:solidFill>
                      <a:srgbClr val="FFFFFF"/>
                    </a:solidFill>
                  </a:tcPr>
                </a:tc>
              </a:tr>
              <a:tr h="548640">
                <a:tc>
                  <a:txBody>
                    <a:bodyPr wrap="square"/>
                    <a:lstStyle/>
                    <a:p>
                      <a:r>
                        <a:rPr sz="1150" b="0">
                          <a:solidFill>
                            <a:srgbClr val="1F2933"/>
                          </a:solidFill>
                          <a:latin typeface="Segoe UI"/>
                        </a:rPr>
                        <a:t>Training, capital packages, contracts, digital adoption, AM participants, CMMC/HUBZone/OZ completions</a:t>
                      </a:r>
                    </a:p>
                  </a:txBody>
                  <a:tcPr marL="73152" marR="73152" marT="36576" marB="36576" anchor="ctr">
                    <a:solidFill>
                      <a:srgbClr val="F4F7FB"/>
                    </a:solidFill>
                  </a:tcPr>
                </a:tc>
                <a:tc>
                  <a:txBody>
                    <a:bodyPr wrap="square"/>
                    <a:lstStyle/>
                    <a:p>
                      <a:r>
                        <a:rPr sz="1150" b="0">
                          <a:solidFill>
                            <a:srgbClr val="1F2933"/>
                          </a:solidFill>
                          <a:latin typeface="Segoe UI"/>
                        </a:rPr>
                        <a:t>Project</a:t>
                      </a:r>
                    </a:p>
                  </a:txBody>
                  <a:tcPr marL="73152" marR="73152" marT="36576" marB="36576" anchor="ctr">
                    <a:solidFill>
                      <a:srgbClr val="F4F7FB"/>
                    </a:solidFill>
                  </a:tcPr>
                </a:tc>
                <a:tc>
                  <a:txBody>
                    <a:bodyPr wrap="square"/>
                    <a:lstStyle/>
                    <a:p>
                      <a:r>
                        <a:rPr sz="1150" b="0">
                          <a:solidFill>
                            <a:srgbClr val="1F2933"/>
                          </a:solidFill>
                          <a:latin typeface="Segoe UI"/>
                        </a:rPr>
                        <a:t>Six program-specific activity and readiness measures</a:t>
                      </a:r>
                    </a:p>
                  </a:txBody>
                  <a:tcPr marL="73152" marR="73152" marT="36576" marB="36576" anchor="ctr">
                    <a:solidFill>
                      <a:srgbClr val="F4F7FB"/>
                    </a:solidFill>
                  </a:tcPr>
                </a:tc>
                <a:tc>
                  <a:txBody>
                    <a:bodyPr wrap="square"/>
                    <a:lstStyle/>
                    <a:p>
                      <a:r>
                        <a:rPr sz="1150" b="0">
                          <a:solidFill>
                            <a:srgbClr val="1F2933"/>
                          </a:solidFill>
                          <a:latin typeface="Segoe UI"/>
                        </a:rPr>
                        <a:t>Logs, certificates, contract docs</a:t>
                      </a:r>
                    </a:p>
                  </a:txBody>
                  <a:tcPr marL="73152" marR="73152" marT="36576" marB="36576" anchor="ctr">
                    <a:solidFill>
                      <a:srgbClr val="F4F7FB"/>
                    </a:solidFill>
                  </a:tcPr>
                </a:tc>
              </a:tr>
            </a:tbl>
          </a:graphicData>
        </a:graphic>
      </p:graphicFrame>
      <p:sp>
        <p:nvSpPr>
          <p:cNvPr id="10" name="TextBox 9"/>
          <p:cNvSpPr txBox="1"/>
          <p:nvPr/>
        </p:nvSpPr>
        <p:spPr>
          <a:xfrm>
            <a:off x="548640" y="5577840"/>
            <a:ext cx="11064240" cy="731520"/>
          </a:xfrm>
          <a:prstGeom prst="rect">
            <a:avLst/>
          </a:prstGeom>
          <a:noFill/>
        </p:spPr>
        <p:txBody>
          <a:bodyPr wrap="square" anchor="t" lIns="45720" rIns="45720" tIns="27432" bIns="27432">
            <a:spAutoFit/>
          </a:bodyPr>
          <a:lstStyle/>
          <a:p>
            <a:pPr algn="l">
              <a:spcAft>
                <a:spcPts val="400"/>
              </a:spcAft>
            </a:pPr>
            <a:r>
              <a:rPr sz="1300" b="1">
                <a:solidFill>
                  <a:srgbClr val="134074"/>
                </a:solidFill>
                <a:latin typeface="Segoe UI"/>
              </a:rPr>
              <a:t>MBDA assesses semi-annually against a straight-line interpolation of annual targets. Every number must trace to a verified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THE YEAR 1 PERFORMANCE MATRIX</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Year 1 demands an operational platform in 90 days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4</a:t>
            </a:r>
          </a:p>
        </p:txBody>
      </p:sp>
      <p:sp>
        <p:nvSpPr>
          <p:cNvPr id="9" name="Rounded Rectangle 8"/>
          <p:cNvSpPr/>
          <p:nvPr/>
        </p:nvSpPr>
        <p:spPr>
          <a:xfrm>
            <a:off x="548640" y="1508760"/>
            <a:ext cx="2651760" cy="50292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54480"/>
            <a:ext cx="2651760" cy="411480"/>
          </a:xfrm>
          <a:prstGeom prst="rect">
            <a:avLst/>
          </a:prstGeom>
          <a:noFill/>
        </p:spPr>
        <p:txBody>
          <a:bodyPr wrap="square" anchor="ctr" lIns="45720" rIns="45720" tIns="27432" bIns="27432">
            <a:spAutoFit/>
          </a:bodyPr>
          <a:lstStyle/>
          <a:p>
            <a:pPr algn="ctr">
              <a:spcAft>
                <a:spcPts val="400"/>
              </a:spcAft>
            </a:pPr>
            <a:r>
              <a:rPr sz="1400" b="1">
                <a:solidFill>
                  <a:srgbClr val="FFFFFF"/>
                </a:solidFill>
                <a:latin typeface="Segoe UI"/>
              </a:rPr>
              <a:t>Q1 · Months 1–3</a:t>
            </a:r>
          </a:p>
        </p:txBody>
      </p:sp>
      <p:sp>
        <p:nvSpPr>
          <p:cNvPr id="11" name="Rounded Rectangle 10"/>
          <p:cNvSpPr/>
          <p:nvPr/>
        </p:nvSpPr>
        <p:spPr>
          <a:xfrm>
            <a:off x="548640" y="2103120"/>
            <a:ext cx="2651760" cy="2514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9456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ACTIVITIES</a:t>
            </a:r>
          </a:p>
        </p:txBody>
      </p:sp>
      <p:sp>
        <p:nvSpPr>
          <p:cNvPr id="13" name="TextBox 12"/>
          <p:cNvSpPr txBox="1"/>
          <p:nvPr/>
        </p:nvSpPr>
        <p:spPr>
          <a:xfrm>
            <a:off x="685800" y="2468880"/>
            <a:ext cx="2377440" cy="868680"/>
          </a:xfrm>
          <a:prstGeom prst="rect">
            <a:avLst/>
          </a:prstGeom>
          <a:noFill/>
        </p:spPr>
        <p:txBody>
          <a:bodyPr wrap="square" anchor="t" lIns="45720" rIns="45720" tIns="27432" bIns="27432">
            <a:spAutoFit/>
          </a:bodyPr>
          <a:lstStyle/>
          <a:p>
            <a:pPr algn="l">
              <a:spcAft>
                <a:spcPts val="400"/>
              </a:spcAft>
            </a:pPr>
            <a:r>
              <a:rPr sz="1200" b="0">
                <a:solidFill>
                  <a:srgbClr val="1F2933"/>
                </a:solidFill>
                <a:latin typeface="Segoe UI"/>
              </a:rPr>
              <a:t>Staff onboarding, KDM PMO, platform deployment, MOUs</a:t>
            </a:r>
          </a:p>
        </p:txBody>
      </p:sp>
      <p:sp>
        <p:nvSpPr>
          <p:cNvPr id="14" name="TextBox 13"/>
          <p:cNvSpPr txBox="1"/>
          <p:nvPr/>
        </p:nvSpPr>
        <p:spPr>
          <a:xfrm>
            <a:off x="685800" y="329184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MILESTONES</a:t>
            </a:r>
          </a:p>
        </p:txBody>
      </p:sp>
      <p:sp>
        <p:nvSpPr>
          <p:cNvPr id="15" name="TextBox 14"/>
          <p:cNvSpPr txBox="1"/>
          <p:nvPr/>
        </p:nvSpPr>
        <p:spPr>
          <a:xfrm>
            <a:off x="685800" y="3566160"/>
            <a:ext cx="2377440" cy="1005840"/>
          </a:xfrm>
          <a:prstGeom prst="rect">
            <a:avLst/>
          </a:prstGeom>
          <a:noFill/>
        </p:spPr>
        <p:txBody>
          <a:bodyPr wrap="square" anchor="t" lIns="45720" rIns="45720" tIns="27432" bIns="27432">
            <a:spAutoFit/>
          </a:bodyPr>
          <a:lstStyle/>
          <a:p>
            <a:pPr algn="l">
              <a:spcAft>
                <a:spcPts val="400"/>
              </a:spcAft>
            </a:pPr>
            <a:r>
              <a:rPr sz="1200" b="1">
                <a:solidFill>
                  <a:srgbClr val="0B2545"/>
                </a:solidFill>
                <a:latin typeface="Segoe UI"/>
              </a:rPr>
              <a:t>100% personnel onboarded · platform operational · 80% partner agreements</a:t>
            </a:r>
          </a:p>
        </p:txBody>
      </p:sp>
      <p:sp>
        <p:nvSpPr>
          <p:cNvPr id="16" name="Rounded Rectangle 15"/>
          <p:cNvSpPr/>
          <p:nvPr/>
        </p:nvSpPr>
        <p:spPr>
          <a:xfrm>
            <a:off x="3355848" y="1508760"/>
            <a:ext cx="2651760" cy="502920"/>
          </a:xfrm>
          <a:prstGeom prst="roundRect">
            <a:avLst>
              <a:gd name="adj" fmla="val 8000"/>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5848" y="1554480"/>
            <a:ext cx="2651760" cy="411480"/>
          </a:xfrm>
          <a:prstGeom prst="rect">
            <a:avLst/>
          </a:prstGeom>
          <a:noFill/>
        </p:spPr>
        <p:txBody>
          <a:bodyPr wrap="square" anchor="ctr" lIns="45720" rIns="45720" tIns="27432" bIns="27432">
            <a:spAutoFit/>
          </a:bodyPr>
          <a:lstStyle/>
          <a:p>
            <a:pPr algn="ctr">
              <a:spcAft>
                <a:spcPts val="400"/>
              </a:spcAft>
            </a:pPr>
            <a:r>
              <a:rPr sz="1400" b="1">
                <a:solidFill>
                  <a:srgbClr val="FFFFFF"/>
                </a:solidFill>
                <a:latin typeface="Segoe UI"/>
              </a:rPr>
              <a:t>Q2 · Months 4–6</a:t>
            </a:r>
          </a:p>
        </p:txBody>
      </p:sp>
      <p:sp>
        <p:nvSpPr>
          <p:cNvPr id="18" name="Rounded Rectangle 17"/>
          <p:cNvSpPr/>
          <p:nvPr/>
        </p:nvSpPr>
        <p:spPr>
          <a:xfrm>
            <a:off x="3355848" y="2103120"/>
            <a:ext cx="2651760" cy="2514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219456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ACTIVITIES</a:t>
            </a:r>
          </a:p>
        </p:txBody>
      </p:sp>
      <p:sp>
        <p:nvSpPr>
          <p:cNvPr id="20" name="TextBox 19"/>
          <p:cNvSpPr txBox="1"/>
          <p:nvPr/>
        </p:nvSpPr>
        <p:spPr>
          <a:xfrm>
            <a:off x="3493008" y="2468880"/>
            <a:ext cx="2377440" cy="868680"/>
          </a:xfrm>
          <a:prstGeom prst="rect">
            <a:avLst/>
          </a:prstGeom>
          <a:noFill/>
        </p:spPr>
        <p:txBody>
          <a:bodyPr wrap="square" anchor="t" lIns="45720" rIns="45720" tIns="27432" bIns="27432">
            <a:spAutoFit/>
          </a:bodyPr>
          <a:lstStyle/>
          <a:p>
            <a:pPr algn="l">
              <a:spcAft>
                <a:spcPts val="400"/>
              </a:spcAft>
            </a:pPr>
            <a:r>
              <a:rPr sz="1200" b="0">
                <a:solidFill>
                  <a:srgbClr val="1F2933"/>
                </a:solidFill>
                <a:latin typeface="Segoe UI"/>
              </a:rPr>
              <a:t>Outreach, intake assessments, entrepreneurship training</a:t>
            </a:r>
          </a:p>
        </p:txBody>
      </p:sp>
      <p:sp>
        <p:nvSpPr>
          <p:cNvPr id="21" name="TextBox 20"/>
          <p:cNvSpPr txBox="1"/>
          <p:nvPr/>
        </p:nvSpPr>
        <p:spPr>
          <a:xfrm>
            <a:off x="3493008" y="329184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MILESTONES</a:t>
            </a:r>
          </a:p>
        </p:txBody>
      </p:sp>
      <p:sp>
        <p:nvSpPr>
          <p:cNvPr id="22" name="TextBox 21"/>
          <p:cNvSpPr txBox="1"/>
          <p:nvPr/>
        </p:nvSpPr>
        <p:spPr>
          <a:xfrm>
            <a:off x="3493008" y="3566160"/>
            <a:ext cx="2377440" cy="1005840"/>
          </a:xfrm>
          <a:prstGeom prst="rect">
            <a:avLst/>
          </a:prstGeom>
          <a:noFill/>
        </p:spPr>
        <p:txBody>
          <a:bodyPr wrap="square" anchor="t" lIns="45720" rIns="45720" tIns="27432" bIns="27432">
            <a:spAutoFit/>
          </a:bodyPr>
          <a:lstStyle/>
          <a:p>
            <a:pPr algn="l">
              <a:spcAft>
                <a:spcPts val="400"/>
              </a:spcAft>
            </a:pPr>
            <a:r>
              <a:rPr sz="1200" b="1">
                <a:solidFill>
                  <a:srgbClr val="0B2545"/>
                </a:solidFill>
                <a:latin typeface="Segoe UI"/>
              </a:rPr>
              <a:t>50 clients enrolled · 10 workshops · baseline data captured</a:t>
            </a:r>
          </a:p>
        </p:txBody>
      </p:sp>
      <p:sp>
        <p:nvSpPr>
          <p:cNvPr id="23" name="Rounded Rectangle 22"/>
          <p:cNvSpPr/>
          <p:nvPr/>
        </p:nvSpPr>
        <p:spPr>
          <a:xfrm>
            <a:off x="6163055" y="1508760"/>
            <a:ext cx="2651760" cy="50292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5" y="1554480"/>
            <a:ext cx="2651760" cy="411480"/>
          </a:xfrm>
          <a:prstGeom prst="rect">
            <a:avLst/>
          </a:prstGeom>
          <a:noFill/>
        </p:spPr>
        <p:txBody>
          <a:bodyPr wrap="square" anchor="ctr" lIns="45720" rIns="45720" tIns="27432" bIns="27432">
            <a:spAutoFit/>
          </a:bodyPr>
          <a:lstStyle/>
          <a:p>
            <a:pPr algn="ctr">
              <a:spcAft>
                <a:spcPts val="400"/>
              </a:spcAft>
            </a:pPr>
            <a:r>
              <a:rPr sz="1400" b="1">
                <a:solidFill>
                  <a:srgbClr val="FFFFFF"/>
                </a:solidFill>
                <a:latin typeface="Segoe UI"/>
              </a:rPr>
              <a:t>Q3 · Months 7–9</a:t>
            </a:r>
          </a:p>
        </p:txBody>
      </p:sp>
      <p:sp>
        <p:nvSpPr>
          <p:cNvPr id="25" name="Rounded Rectangle 24"/>
          <p:cNvSpPr/>
          <p:nvPr/>
        </p:nvSpPr>
        <p:spPr>
          <a:xfrm>
            <a:off x="6163055" y="2103120"/>
            <a:ext cx="2651760" cy="2514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0216" y="219456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ACTIVITIES</a:t>
            </a:r>
          </a:p>
        </p:txBody>
      </p:sp>
      <p:sp>
        <p:nvSpPr>
          <p:cNvPr id="27" name="TextBox 26"/>
          <p:cNvSpPr txBox="1"/>
          <p:nvPr/>
        </p:nvSpPr>
        <p:spPr>
          <a:xfrm>
            <a:off x="6300216" y="2468880"/>
            <a:ext cx="2377440" cy="868680"/>
          </a:xfrm>
          <a:prstGeom prst="rect">
            <a:avLst/>
          </a:prstGeom>
          <a:noFill/>
        </p:spPr>
        <p:txBody>
          <a:bodyPr wrap="square" anchor="t" lIns="45720" rIns="45720" tIns="27432" bIns="27432">
            <a:spAutoFit/>
          </a:bodyPr>
          <a:lstStyle/>
          <a:p>
            <a:pPr algn="l">
              <a:spcAft>
                <a:spcPts val="400"/>
              </a:spcAft>
            </a:pPr>
            <a:r>
              <a:rPr sz="1200" b="0">
                <a:solidFill>
                  <a:srgbClr val="1F2933"/>
                </a:solidFill>
                <a:latin typeface="Segoe UI"/>
              </a:rPr>
              <a:t>Capital readiness, AM cohorts, CMMC/HUBZone training</a:t>
            </a:r>
          </a:p>
        </p:txBody>
      </p:sp>
      <p:sp>
        <p:nvSpPr>
          <p:cNvPr id="28" name="TextBox 27"/>
          <p:cNvSpPr txBox="1"/>
          <p:nvPr/>
        </p:nvSpPr>
        <p:spPr>
          <a:xfrm>
            <a:off x="6300216" y="329184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MILESTONES</a:t>
            </a:r>
          </a:p>
        </p:txBody>
      </p:sp>
      <p:sp>
        <p:nvSpPr>
          <p:cNvPr id="29" name="TextBox 28"/>
          <p:cNvSpPr txBox="1"/>
          <p:nvPr/>
        </p:nvSpPr>
        <p:spPr>
          <a:xfrm>
            <a:off x="6300216" y="3566160"/>
            <a:ext cx="2377440" cy="1005840"/>
          </a:xfrm>
          <a:prstGeom prst="rect">
            <a:avLst/>
          </a:prstGeom>
          <a:noFill/>
        </p:spPr>
        <p:txBody>
          <a:bodyPr wrap="square" anchor="t" lIns="45720" rIns="45720" tIns="27432" bIns="27432">
            <a:spAutoFit/>
          </a:bodyPr>
          <a:lstStyle/>
          <a:p>
            <a:pPr algn="l">
              <a:spcAft>
                <a:spcPts val="400"/>
              </a:spcAft>
            </a:pPr>
            <a:r>
              <a:rPr sz="1200" b="1">
                <a:solidFill>
                  <a:srgbClr val="0B2545"/>
                </a:solidFill>
                <a:latin typeface="Segoe UI"/>
              </a:rPr>
              <a:t>100 cumulative clients · 15 capital packages · 10 completions</a:t>
            </a:r>
          </a:p>
        </p:txBody>
      </p:sp>
      <p:sp>
        <p:nvSpPr>
          <p:cNvPr id="30" name="Rounded Rectangle 29"/>
          <p:cNvSpPr/>
          <p:nvPr/>
        </p:nvSpPr>
        <p:spPr>
          <a:xfrm>
            <a:off x="8970263" y="1508760"/>
            <a:ext cx="2651760" cy="502920"/>
          </a:xfrm>
          <a:prstGeom prst="roundRect">
            <a:avLst>
              <a:gd name="adj" fmla="val 8000"/>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70263" y="1554480"/>
            <a:ext cx="2651760" cy="411480"/>
          </a:xfrm>
          <a:prstGeom prst="rect">
            <a:avLst/>
          </a:prstGeom>
          <a:noFill/>
        </p:spPr>
        <p:txBody>
          <a:bodyPr wrap="square" anchor="ctr" lIns="45720" rIns="45720" tIns="27432" bIns="27432">
            <a:spAutoFit/>
          </a:bodyPr>
          <a:lstStyle/>
          <a:p>
            <a:pPr algn="ctr">
              <a:spcAft>
                <a:spcPts val="400"/>
              </a:spcAft>
            </a:pPr>
            <a:r>
              <a:rPr sz="1400" b="1">
                <a:solidFill>
                  <a:srgbClr val="FFFFFF"/>
                </a:solidFill>
                <a:latin typeface="Segoe UI"/>
              </a:rPr>
              <a:t>Q4 · Months 10–12</a:t>
            </a:r>
          </a:p>
        </p:txBody>
      </p:sp>
      <p:sp>
        <p:nvSpPr>
          <p:cNvPr id="32" name="Rounded Rectangle 31"/>
          <p:cNvSpPr/>
          <p:nvPr/>
        </p:nvSpPr>
        <p:spPr>
          <a:xfrm>
            <a:off x="8970263" y="2103120"/>
            <a:ext cx="2651760" cy="2514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07424" y="219456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ACTIVITIES</a:t>
            </a:r>
          </a:p>
        </p:txBody>
      </p:sp>
      <p:sp>
        <p:nvSpPr>
          <p:cNvPr id="34" name="TextBox 33"/>
          <p:cNvSpPr txBox="1"/>
          <p:nvPr/>
        </p:nvSpPr>
        <p:spPr>
          <a:xfrm>
            <a:off x="9107424" y="2468880"/>
            <a:ext cx="2377440" cy="868680"/>
          </a:xfrm>
          <a:prstGeom prst="rect">
            <a:avLst/>
          </a:prstGeom>
          <a:noFill/>
        </p:spPr>
        <p:txBody>
          <a:bodyPr wrap="square" anchor="t" lIns="45720" rIns="45720" tIns="27432" bIns="27432">
            <a:spAutoFit/>
          </a:bodyPr>
          <a:lstStyle/>
          <a:p>
            <a:pPr algn="l">
              <a:spcAft>
                <a:spcPts val="400"/>
              </a:spcAft>
            </a:pPr>
            <a:r>
              <a:rPr sz="1200" b="0">
                <a:solidFill>
                  <a:srgbClr val="1F2933"/>
                </a:solidFill>
                <a:latin typeface="Segoe UI"/>
              </a:rPr>
              <a:t>Consulting, contract matchmaking, performance review</a:t>
            </a:r>
          </a:p>
        </p:txBody>
      </p:sp>
      <p:sp>
        <p:nvSpPr>
          <p:cNvPr id="35" name="TextBox 34"/>
          <p:cNvSpPr txBox="1"/>
          <p:nvPr/>
        </p:nvSpPr>
        <p:spPr>
          <a:xfrm>
            <a:off x="9107424" y="3291840"/>
            <a:ext cx="2377440" cy="274320"/>
          </a:xfrm>
          <a:prstGeom prst="rect">
            <a:avLst/>
          </a:prstGeom>
          <a:noFill/>
        </p:spPr>
        <p:txBody>
          <a:bodyPr wrap="square" anchor="t" lIns="45720" rIns="45720" tIns="27432" bIns="27432">
            <a:spAutoFit/>
          </a:bodyPr>
          <a:lstStyle/>
          <a:p>
            <a:pPr algn="l">
              <a:spcAft>
                <a:spcPts val="400"/>
              </a:spcAft>
            </a:pPr>
            <a:r>
              <a:rPr sz="950" b="1">
                <a:solidFill>
                  <a:srgbClr val="C9A227"/>
                </a:solidFill>
                <a:latin typeface="Segoe UI"/>
              </a:rPr>
              <a:t>MILESTONES</a:t>
            </a:r>
          </a:p>
        </p:txBody>
      </p:sp>
      <p:sp>
        <p:nvSpPr>
          <p:cNvPr id="36" name="TextBox 35"/>
          <p:cNvSpPr txBox="1"/>
          <p:nvPr/>
        </p:nvSpPr>
        <p:spPr>
          <a:xfrm>
            <a:off x="9107424" y="3566160"/>
            <a:ext cx="2377440" cy="1005840"/>
          </a:xfrm>
          <a:prstGeom prst="rect">
            <a:avLst/>
          </a:prstGeom>
          <a:noFill/>
        </p:spPr>
        <p:txBody>
          <a:bodyPr wrap="square" anchor="t" lIns="45720" rIns="45720" tIns="27432" bIns="27432">
            <a:spAutoFit/>
          </a:bodyPr>
          <a:lstStyle/>
          <a:p>
            <a:pPr algn="l">
              <a:spcAft>
                <a:spcPts val="400"/>
              </a:spcAft>
            </a:pPr>
            <a:r>
              <a:rPr sz="1200" b="1">
                <a:solidFill>
                  <a:srgbClr val="0B2545"/>
                </a:solidFill>
                <a:latin typeface="Segoe UI"/>
              </a:rPr>
              <a:t>150 clients · 20 new businesses · 10 contracts</a:t>
            </a:r>
          </a:p>
        </p:txBody>
      </p:sp>
      <p:sp>
        <p:nvSpPr>
          <p:cNvPr id="37" name="Rounded Rectangle 36"/>
          <p:cNvSpPr/>
          <p:nvPr/>
        </p:nvSpPr>
        <p:spPr>
          <a:xfrm>
            <a:off x="548640" y="4846320"/>
            <a:ext cx="11064240" cy="13716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956048"/>
            <a:ext cx="10607040" cy="1188720"/>
          </a:xfrm>
          <a:prstGeom prst="rect">
            <a:avLst/>
          </a:prstGeom>
          <a:noFill/>
        </p:spPr>
        <p:txBody>
          <a:bodyPr wrap="square" anchor="t" lIns="45720" rIns="45720" tIns="27432" bIns="27432">
            <a:spAutoFit/>
          </a:bodyPr>
          <a:lstStyle/>
          <a:p>
            <a:pPr algn="l">
              <a:spcAft>
                <a:spcPts val="600"/>
              </a:spcAft>
            </a:pPr>
            <a:r>
              <a:rPr sz="1300" b="0">
                <a:solidFill>
                  <a:srgbClr val="1F2933"/>
                </a:solidFill>
                <a:latin typeface="Segoe UI"/>
              </a:rPr>
              <a:t>“We need a platform first before we start bringing people… we don’t have anywhere to send them.”  — Oct 21 planning call</a:t>
            </a:r>
          </a:p>
          <a:p>
            <a:pPr algn="l">
              <a:spcAft>
                <a:spcPts val="600"/>
              </a:spcAft>
            </a:pPr>
            <a:r>
              <a:rPr sz="1300" b="0">
                <a:solidFill>
                  <a:srgbClr val="1F2933"/>
                </a:solidFill>
                <a:latin typeface="Segoe UI"/>
              </a:rPr>
              <a:t>Risk: centers that report zero Q1 results fall behind. Plan: launch a pilot cohort on the existing platform before November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WHAT EXISTS TODAY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The SVP Platform already provides most building blocks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5</a:t>
            </a:r>
          </a:p>
        </p:txBody>
      </p:sp>
      <p:sp>
        <p:nvSpPr>
          <p:cNvPr id="9" name="Rounded Rectangle 8"/>
          <p:cNvSpPr/>
          <p:nvPr/>
        </p:nvSpPr>
        <p:spPr>
          <a:xfrm>
            <a:off x="548640" y="150876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18488"/>
            <a:ext cx="64008" cy="197510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61848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Intake &amp; onboarding</a:t>
            </a:r>
          </a:p>
        </p:txBody>
      </p:sp>
      <p:sp>
        <p:nvSpPr>
          <p:cNvPr id="12" name="TextBox 11"/>
          <p:cNvSpPr txBox="1"/>
          <p:nvPr/>
        </p:nvSpPr>
        <p:spPr>
          <a:xfrm>
            <a:off x="749808" y="205740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Client registration mirrors the MBDA intake &amp; engagement form; guided onboarding</a:t>
            </a:r>
          </a:p>
        </p:txBody>
      </p:sp>
      <p:sp>
        <p:nvSpPr>
          <p:cNvPr id="13" name="Rounded Rectangle 12"/>
          <p:cNvSpPr/>
          <p:nvPr/>
        </p:nvSpPr>
        <p:spPr>
          <a:xfrm>
            <a:off x="3355848" y="150876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618488"/>
            <a:ext cx="64008" cy="19751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7016" y="161848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CRM &amp; pipeline</a:t>
            </a:r>
          </a:p>
        </p:txBody>
      </p:sp>
      <p:sp>
        <p:nvSpPr>
          <p:cNvPr id="16" name="TextBox 15"/>
          <p:cNvSpPr txBox="1"/>
          <p:nvPr/>
        </p:nvSpPr>
        <p:spPr>
          <a:xfrm>
            <a:off x="3557016" y="205740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Leads, customers, readiness and pipeline Kanbans, command center, tasks</a:t>
            </a:r>
          </a:p>
        </p:txBody>
      </p:sp>
      <p:sp>
        <p:nvSpPr>
          <p:cNvPr id="17" name="Rounded Rectangle 16"/>
          <p:cNvSpPr/>
          <p:nvPr/>
        </p:nvSpPr>
        <p:spPr>
          <a:xfrm>
            <a:off x="6163055" y="150876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5" y="1618488"/>
            <a:ext cx="64008" cy="197510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3" y="161848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Learning</a:t>
            </a:r>
          </a:p>
        </p:txBody>
      </p:sp>
      <p:sp>
        <p:nvSpPr>
          <p:cNvPr id="20" name="TextBox 19"/>
          <p:cNvSpPr txBox="1"/>
          <p:nvPr/>
        </p:nvSpPr>
        <p:spPr>
          <a:xfrm>
            <a:off x="6364223" y="205740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Cohorts, curriculum, instructor tools, assessments, certificates</a:t>
            </a:r>
          </a:p>
        </p:txBody>
      </p:sp>
      <p:sp>
        <p:nvSpPr>
          <p:cNvPr id="21" name="Rounded Rectangle 20"/>
          <p:cNvSpPr/>
          <p:nvPr/>
        </p:nvSpPr>
        <p:spPr>
          <a:xfrm>
            <a:off x="8970263" y="150876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70263" y="1618488"/>
            <a:ext cx="64008" cy="19751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1432" y="161848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Events &amp; webinars</a:t>
            </a:r>
          </a:p>
        </p:txBody>
      </p:sp>
      <p:sp>
        <p:nvSpPr>
          <p:cNvPr id="24" name="TextBox 23"/>
          <p:cNvSpPr txBox="1"/>
          <p:nvPr/>
        </p:nvSpPr>
        <p:spPr>
          <a:xfrm>
            <a:off x="9171432" y="205740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Event manager, registration with check-in, webinar creator and archive</a:t>
            </a:r>
          </a:p>
        </p:txBody>
      </p:sp>
      <p:sp>
        <p:nvSpPr>
          <p:cNvPr id="25" name="Rounded Rectangle 24"/>
          <p:cNvSpPr/>
          <p:nvPr/>
        </p:nvSpPr>
        <p:spPr>
          <a:xfrm>
            <a:off x="548640" y="388620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95928"/>
            <a:ext cx="64008" cy="19751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99592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Procurement</a:t>
            </a:r>
          </a:p>
        </p:txBody>
      </p:sp>
      <p:sp>
        <p:nvSpPr>
          <p:cNvPr id="28" name="TextBox 27"/>
          <p:cNvSpPr txBox="1"/>
          <p:nvPr/>
        </p:nvSpPr>
        <p:spPr>
          <a:xfrm>
            <a:off x="749808" y="443484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SAM.gov search with AI scoring, teaming, pursuits, proposal wizard</a:t>
            </a:r>
          </a:p>
        </p:txBody>
      </p:sp>
      <p:sp>
        <p:nvSpPr>
          <p:cNvPr id="29" name="Rounded Rectangle 28"/>
          <p:cNvSpPr/>
          <p:nvPr/>
        </p:nvSpPr>
        <p:spPr>
          <a:xfrm>
            <a:off x="3355848" y="388620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55848" y="3995928"/>
            <a:ext cx="64008" cy="197510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57016" y="399592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Documents &amp; e-sign</a:t>
            </a:r>
          </a:p>
        </p:txBody>
      </p:sp>
      <p:sp>
        <p:nvSpPr>
          <p:cNvPr id="32" name="TextBox 31"/>
          <p:cNvSpPr txBox="1"/>
          <p:nvPr/>
        </p:nvSpPr>
        <p:spPr>
          <a:xfrm>
            <a:off x="3557016" y="443484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Document storage, proof packs, NDA e-signature flow</a:t>
            </a:r>
          </a:p>
        </p:txBody>
      </p:sp>
      <p:sp>
        <p:nvSpPr>
          <p:cNvPr id="33" name="Rounded Rectangle 32"/>
          <p:cNvSpPr/>
          <p:nvPr/>
        </p:nvSpPr>
        <p:spPr>
          <a:xfrm>
            <a:off x="6163055" y="388620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63055" y="3995928"/>
            <a:ext cx="64008" cy="19751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64223" y="399592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Engagement</a:t>
            </a:r>
          </a:p>
        </p:txBody>
      </p:sp>
      <p:sp>
        <p:nvSpPr>
          <p:cNvPr id="36" name="TextBox 35"/>
          <p:cNvSpPr txBox="1"/>
          <p:nvPr/>
        </p:nvSpPr>
        <p:spPr>
          <a:xfrm>
            <a:off x="6364223" y="443484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Communications, MailChimp, GoHighLevel workflows, notifications</a:t>
            </a:r>
          </a:p>
        </p:txBody>
      </p:sp>
      <p:sp>
        <p:nvSpPr>
          <p:cNvPr id="37" name="Rounded Rectangle 36"/>
          <p:cNvSpPr/>
          <p:nvPr/>
        </p:nvSpPr>
        <p:spPr>
          <a:xfrm>
            <a:off x="8970263" y="3886200"/>
            <a:ext cx="2651760" cy="219456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70263" y="3995928"/>
            <a:ext cx="64008" cy="197510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71432" y="3995928"/>
            <a:ext cx="23317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Insight &amp; control</a:t>
            </a:r>
          </a:p>
        </p:txBody>
      </p:sp>
      <p:sp>
        <p:nvSpPr>
          <p:cNvPr id="40" name="TextBox 39"/>
          <p:cNvSpPr txBox="1"/>
          <p:nvPr/>
        </p:nvSpPr>
        <p:spPr>
          <a:xfrm>
            <a:off x="9171432" y="4434840"/>
            <a:ext cx="2331720" cy="155448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Analytics, audit logs, routing rules, AI chat assistant, white-label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GAP ANALYSIS SUMMARY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How the platform matches LIFT requirements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6</a:t>
            </a:r>
          </a:p>
        </p:txBody>
      </p:sp>
      <p:graphicFrame>
        <p:nvGraphicFramePr>
          <p:cNvPr id="9" name="Table 8"/>
          <p:cNvGraphicFramePr>
            <a:graphicFrameLocks noGrp="1"/>
          </p:cNvGraphicFramePr>
          <p:nvPr/>
        </p:nvGraphicFramePr>
        <p:xfrm>
          <a:off x="548640" y="1417320"/>
          <a:ext cx="11064240" cy="4279392"/>
        </p:xfrm>
        <a:graphic>
          <a:graphicData uri="http://schemas.openxmlformats.org/drawingml/2006/table">
            <a:tbl>
              <a:tblPr firstRow="1" bandRow="1">
                <a:tableStyleId>{5C22544A-7EE6-4342-B048-85BDC9FD1C3A}</a:tableStyleId>
              </a:tblPr>
              <a:tblGrid>
                <a:gridCol w="4206240"/>
                <a:gridCol w="1463040"/>
                <a:gridCol w="5394960"/>
              </a:tblGrid>
              <a:tr h="475488">
                <a:tc>
                  <a:txBody>
                    <a:bodyPr wrap="square"/>
                    <a:lstStyle/>
                    <a:p>
                      <a:r>
                        <a:rPr sz="1150" b="1">
                          <a:solidFill>
                            <a:srgbClr val="FFFFFF"/>
                          </a:solidFill>
                          <a:latin typeface="Segoe UI"/>
                        </a:rPr>
                        <a:t>Program area</a:t>
                      </a:r>
                    </a:p>
                  </a:txBody>
                  <a:tcPr marL="73152" marR="73152" marT="36576" marB="36576" anchor="ctr">
                    <a:solidFill>
                      <a:srgbClr val="0B2545"/>
                    </a:solidFill>
                  </a:tcPr>
                </a:tc>
                <a:tc>
                  <a:txBody>
                    <a:bodyPr wrap="square"/>
                    <a:lstStyle/>
                    <a:p>
                      <a:r>
                        <a:rPr sz="1150" b="1">
                          <a:solidFill>
                            <a:srgbClr val="FFFFFF"/>
                          </a:solidFill>
                          <a:latin typeface="Segoe UI"/>
                        </a:rPr>
                        <a:t>Rating</a:t>
                      </a:r>
                    </a:p>
                  </a:txBody>
                  <a:tcPr marL="73152" marR="73152" marT="36576" marB="36576" anchor="ctr">
                    <a:solidFill>
                      <a:srgbClr val="0B2545"/>
                    </a:solidFill>
                  </a:tcPr>
                </a:tc>
                <a:tc>
                  <a:txBody>
                    <a:bodyPr wrap="square"/>
                    <a:lstStyle/>
                    <a:p>
                      <a:r>
                        <a:rPr sz="1150" b="1">
                          <a:solidFill>
                            <a:srgbClr val="FFFFFF"/>
                          </a:solidFill>
                          <a:latin typeface="Segoe UI"/>
                        </a:rPr>
                        <a:t>What it takes</a:t>
                      </a:r>
                    </a:p>
                  </a:txBody>
                  <a:tcPr marL="73152" marR="73152" marT="36576" marB="36576" anchor="ctr">
                    <a:solidFill>
                      <a:srgbClr val="0B2545"/>
                    </a:solidFill>
                  </a:tcPr>
                </a:tc>
              </a:tr>
              <a:tr h="475488">
                <a:tc>
                  <a:txBody>
                    <a:bodyPr wrap="square"/>
                    <a:lstStyle/>
                    <a:p>
                      <a:r>
                        <a:rPr sz="1150" b="0">
                          <a:solidFill>
                            <a:srgbClr val="1F2933"/>
                          </a:solidFill>
                          <a:latin typeface="Segoe UI"/>
                        </a:rPr>
                        <a:t>Deployment, branding, module scope</a:t>
                      </a:r>
                    </a:p>
                  </a:txBody>
                  <a:tcPr marL="73152" marR="73152" marT="36576" marB="36576" anchor="ctr">
                    <a:solidFill>
                      <a:srgbClr val="FFFFFF"/>
                    </a:solidFill>
                  </a:tcPr>
                </a:tc>
                <a:tc>
                  <a:txBody>
                    <a:bodyPr wrap="square"/>
                    <a:lstStyle/>
                    <a:p>
                      <a:pPr algn="ctr"/>
                      <a:r>
                        <a:rPr sz="1150" b="1">
                          <a:solidFill>
                            <a:srgbClr val="1E40AF"/>
                          </a:solidFill>
                          <a:latin typeface="Segoe UI"/>
                        </a:rPr>
                        <a:t>CONFIGURE</a:t>
                      </a:r>
                    </a:p>
                  </a:txBody>
                  <a:tcPr marL="73152" marR="73152" marT="36576" marB="36576" anchor="ctr">
                    <a:solidFill>
                      <a:srgbClr val="DBEAFE"/>
                    </a:solidFill>
                  </a:tcPr>
                </a:tc>
                <a:tc>
                  <a:txBody>
                    <a:bodyPr wrap="square"/>
                    <a:lstStyle/>
                    <a:p>
                      <a:r>
                        <a:rPr sz="1150" b="0">
                          <a:solidFill>
                            <a:srgbClr val="1F2933"/>
                          </a:solidFill>
                          <a:latin typeface="Segoe UI"/>
                        </a:rPr>
                        <a:t>Separate LIFT instance, MBDA branding, disable KDM-only modules</a:t>
                      </a:r>
                    </a:p>
                  </a:txBody>
                  <a:tcPr marL="73152" marR="73152" marT="36576" marB="36576" anchor="ctr">
                    <a:solidFill>
                      <a:srgbClr val="FFFFFF"/>
                    </a:solidFill>
                  </a:tcPr>
                </a:tc>
              </a:tr>
              <a:tr h="475488">
                <a:tc>
                  <a:txBody>
                    <a:bodyPr wrap="square"/>
                    <a:lstStyle/>
                    <a:p>
                      <a:r>
                        <a:rPr sz="1150" b="0">
                          <a:solidFill>
                            <a:srgbClr val="1F2933"/>
                          </a:solidFill>
                          <a:latin typeface="Segoe UI"/>
                        </a:rPr>
                        <a:t>Outreach, PMO workspace, fee-based services</a:t>
                      </a:r>
                    </a:p>
                  </a:txBody>
                  <a:tcPr marL="73152" marR="73152" marT="36576" marB="36576" anchor="ctr">
                    <a:solidFill>
                      <a:srgbClr val="F4F7FB"/>
                    </a:solidFill>
                  </a:tcPr>
                </a:tc>
                <a:tc>
                  <a:txBody>
                    <a:bodyPr wrap="square"/>
                    <a:lstStyle/>
                    <a:p>
                      <a:pPr algn="ctr"/>
                      <a:r>
                        <a:rPr sz="1150" b="1">
                          <a:solidFill>
                            <a:srgbClr val="1E40AF"/>
                          </a:solidFill>
                          <a:latin typeface="Segoe UI"/>
                        </a:rPr>
                        <a:t>CONFIGURE</a:t>
                      </a:r>
                    </a:p>
                  </a:txBody>
                  <a:tcPr marL="73152" marR="73152" marT="36576" marB="36576" anchor="ctr">
                    <a:solidFill>
                      <a:srgbClr val="DBEAFE"/>
                    </a:solidFill>
                  </a:tcPr>
                </a:tc>
                <a:tc>
                  <a:txBody>
                    <a:bodyPr wrap="square"/>
                    <a:lstStyle/>
                    <a:p>
                      <a:r>
                        <a:rPr sz="1150" b="0">
                          <a:solidFill>
                            <a:srgbClr val="1F2933"/>
                          </a:solidFill>
                          <a:latin typeface="Segoe UI"/>
                        </a:rPr>
                        <a:t>LIFT templates and copy; fee services kept separate</a:t>
                      </a:r>
                    </a:p>
                  </a:txBody>
                  <a:tcPr marL="73152" marR="73152" marT="36576" marB="36576" anchor="ctr">
                    <a:solidFill>
                      <a:srgbClr val="F4F7FB"/>
                    </a:solidFill>
                  </a:tcPr>
                </a:tc>
              </a:tr>
              <a:tr h="475488">
                <a:tc>
                  <a:txBody>
                    <a:bodyPr wrap="square"/>
                    <a:lstStyle/>
                    <a:p>
                      <a:r>
                        <a:rPr sz="1150" b="0">
                          <a:solidFill>
                            <a:srgbClr val="1F2933"/>
                          </a:solidFill>
                          <a:latin typeface="Segoe UI"/>
                        </a:rPr>
                        <a:t>Intake, consent, case management, routing</a:t>
                      </a:r>
                    </a:p>
                  </a:txBody>
                  <a:tcPr marL="73152" marR="73152" marT="36576" marB="36576" anchor="ctr">
                    <a:solidFill>
                      <a:srgbClr val="FFFFFF"/>
                    </a:solidFill>
                  </a:tcPr>
                </a:tc>
                <a:tc>
                  <a:txBody>
                    <a:bodyPr wrap="square"/>
                    <a:lstStyle/>
                    <a:p>
                      <a:pPr algn="ctr"/>
                      <a:r>
                        <a:rPr sz="1150" b="1">
                          <a:solidFill>
                            <a:srgbClr val="92400E"/>
                          </a:solidFill>
                          <a:latin typeface="Segoe UI"/>
                        </a:rPr>
                        <a:t>EXTEND</a:t>
                      </a:r>
                    </a:p>
                  </a:txBody>
                  <a:tcPr marL="73152" marR="73152" marT="36576" marB="36576" anchor="ctr">
                    <a:solidFill>
                      <a:srgbClr val="FEF3C7"/>
                    </a:solidFill>
                  </a:tcPr>
                </a:tc>
                <a:tc>
                  <a:txBody>
                    <a:bodyPr wrap="square"/>
                    <a:lstStyle/>
                    <a:p>
                      <a:r>
                        <a:rPr sz="1150" b="0">
                          <a:solidFill>
                            <a:srgbClr val="1F2933"/>
                          </a:solidFill>
                          <a:latin typeface="Segoe UI"/>
                        </a:rPr>
                        <a:t>Add rural eligibility, consent versions, LIFT stages, partner routing</a:t>
                      </a:r>
                    </a:p>
                  </a:txBody>
                  <a:tcPr marL="73152" marR="73152" marT="36576" marB="36576" anchor="ctr">
                    <a:solidFill>
                      <a:srgbClr val="FFFFFF"/>
                    </a:solidFill>
                  </a:tcPr>
                </a:tc>
              </a:tr>
              <a:tr h="475488">
                <a:tc>
                  <a:txBody>
                    <a:bodyPr wrap="square"/>
                    <a:lstStyle/>
                    <a:p>
                      <a:r>
                        <a:rPr sz="1150" b="0">
                          <a:solidFill>
                            <a:srgbClr val="1F2933"/>
                          </a:solidFill>
                          <a:latin typeface="Segoe UI"/>
                        </a:rPr>
                        <a:t>Training, events, certificates</a:t>
                      </a:r>
                    </a:p>
                  </a:txBody>
                  <a:tcPr marL="73152" marR="73152" marT="36576" marB="36576" anchor="ctr">
                    <a:solidFill>
                      <a:srgbClr val="F4F7FB"/>
                    </a:solidFill>
                  </a:tcPr>
                </a:tc>
                <a:tc>
                  <a:txBody>
                    <a:bodyPr wrap="square"/>
                    <a:lstStyle/>
                    <a:p>
                      <a:pPr algn="ctr"/>
                      <a:r>
                        <a:rPr sz="1150" b="1">
                          <a:solidFill>
                            <a:srgbClr val="92400E"/>
                          </a:solidFill>
                          <a:latin typeface="Segoe UI"/>
                        </a:rPr>
                        <a:t>EXTEND</a:t>
                      </a:r>
                    </a:p>
                  </a:txBody>
                  <a:tcPr marL="73152" marR="73152" marT="36576" marB="36576" anchor="ctr">
                    <a:solidFill>
                      <a:srgbClr val="FEF3C7"/>
                    </a:solidFill>
                  </a:tcPr>
                </a:tc>
                <a:tc>
                  <a:txBody>
                    <a:bodyPr wrap="square"/>
                    <a:lstStyle/>
                    <a:p>
                      <a:r>
                        <a:rPr sz="1150" b="0">
                          <a:solidFill>
                            <a:srgbClr val="1F2933"/>
                          </a:solidFill>
                          <a:latin typeface="Segoe UI"/>
                        </a:rPr>
                        <a:t>Generic LIFT tracks; webinar-to-course; attendance feeds metrics</a:t>
                      </a:r>
                    </a:p>
                  </a:txBody>
                  <a:tcPr marL="73152" marR="73152" marT="36576" marB="36576" anchor="ctr">
                    <a:solidFill>
                      <a:srgbClr val="F4F7FB"/>
                    </a:solidFill>
                  </a:tcPr>
                </a:tc>
              </a:tr>
              <a:tr h="475488">
                <a:tc>
                  <a:txBody>
                    <a:bodyPr wrap="square"/>
                    <a:lstStyle/>
                    <a:p>
                      <a:r>
                        <a:rPr sz="1150" b="0">
                          <a:solidFill>
                            <a:srgbClr val="1F2933"/>
                          </a:solidFill>
                          <a:latin typeface="Segoe UI"/>
                        </a:rPr>
                        <a:t>Procurement and proposals</a:t>
                      </a:r>
                    </a:p>
                  </a:txBody>
                  <a:tcPr marL="73152" marR="73152" marT="36576" marB="36576" anchor="ctr">
                    <a:solidFill>
                      <a:srgbClr val="FFFFFF"/>
                    </a:solidFill>
                  </a:tcPr>
                </a:tc>
                <a:tc>
                  <a:txBody>
                    <a:bodyPr wrap="square"/>
                    <a:lstStyle/>
                    <a:p>
                      <a:pPr algn="ctr"/>
                      <a:r>
                        <a:rPr sz="1150" b="1">
                          <a:solidFill>
                            <a:srgbClr val="92400E"/>
                          </a:solidFill>
                          <a:latin typeface="Segoe UI"/>
                        </a:rPr>
                        <a:t>EXTEND</a:t>
                      </a:r>
                    </a:p>
                  </a:txBody>
                  <a:tcPr marL="73152" marR="73152" marT="36576" marB="36576" anchor="ctr">
                    <a:solidFill>
                      <a:srgbClr val="FEF3C7"/>
                    </a:solidFill>
                  </a:tcPr>
                </a:tc>
                <a:tc>
                  <a:txBody>
                    <a:bodyPr wrap="square"/>
                    <a:lstStyle/>
                    <a:p>
                      <a:r>
                        <a:rPr sz="1150" b="0">
                          <a:solidFill>
                            <a:srgbClr val="1F2933"/>
                          </a:solidFill>
                          <a:latin typeface="Segoe UI"/>
                        </a:rPr>
                        <a:t>Replace mock AI analysis; compliance matrix; capability library</a:t>
                      </a:r>
                    </a:p>
                  </a:txBody>
                  <a:tcPr marL="73152" marR="73152" marT="36576" marB="36576" anchor="ctr">
                    <a:solidFill>
                      <a:srgbClr val="FFFFFF"/>
                    </a:solidFill>
                  </a:tcPr>
                </a:tc>
              </a:tr>
              <a:tr h="475488">
                <a:tc>
                  <a:txBody>
                    <a:bodyPr wrap="square"/>
                    <a:lstStyle/>
                    <a:p>
                      <a:r>
                        <a:rPr sz="1150" b="0">
                          <a:solidFill>
                            <a:srgbClr val="1F2933"/>
                          </a:solidFill>
                          <a:latin typeface="Segoe UI"/>
                        </a:rPr>
                        <a:t>AI interview and form builder</a:t>
                      </a:r>
                    </a:p>
                  </a:txBody>
                  <a:tcPr marL="73152" marR="73152" marT="36576" marB="36576" anchor="ctr">
                    <a:solidFill>
                      <a:srgbClr val="F4F7FB"/>
                    </a:solidFill>
                  </a:tcPr>
                </a:tc>
                <a:tc>
                  <a:txBody>
                    <a:bodyPr wrap="square"/>
                    <a:lstStyle/>
                    <a:p>
                      <a:pPr algn="ctr"/>
                      <a:r>
                        <a:rPr sz="1150" b="1">
                          <a:solidFill>
                            <a:srgbClr val="991B1B"/>
                          </a:solidFill>
                          <a:latin typeface="Segoe UI"/>
                        </a:rPr>
                        <a:t>BUILD</a:t>
                      </a:r>
                    </a:p>
                  </a:txBody>
                  <a:tcPr marL="73152" marR="73152" marT="36576" marB="36576" anchor="ctr">
                    <a:solidFill>
                      <a:srgbClr val="FEE2E2"/>
                    </a:solidFill>
                  </a:tcPr>
                </a:tc>
                <a:tc>
                  <a:txBody>
                    <a:bodyPr wrap="square"/>
                    <a:lstStyle/>
                    <a:p>
                      <a:r>
                        <a:rPr sz="1150" b="0">
                          <a:solidFill>
                            <a:srgbClr val="1F2933"/>
                          </a:solidFill>
                          <a:latin typeface="Segoe UI"/>
                        </a:rPr>
                        <a:t>Port partner modules (specs available)</a:t>
                      </a:r>
                    </a:p>
                  </a:txBody>
                  <a:tcPr marL="73152" marR="73152" marT="36576" marB="36576" anchor="ctr">
                    <a:solidFill>
                      <a:srgbClr val="F4F7FB"/>
                    </a:solidFill>
                  </a:tcPr>
                </a:tc>
              </a:tr>
              <a:tr h="475488">
                <a:tc>
                  <a:txBody>
                    <a:bodyPr wrap="square"/>
                    <a:lstStyle/>
                    <a:p>
                      <a:r>
                        <a:rPr sz="1150" b="0">
                          <a:solidFill>
                            <a:srgbClr val="1F2933"/>
                          </a:solidFill>
                          <a:latin typeface="Segoe UI"/>
                        </a:rPr>
                        <a:t>Outcome evidence and MBDA reporting</a:t>
                      </a:r>
                    </a:p>
                  </a:txBody>
                  <a:tcPr marL="73152" marR="73152" marT="36576" marB="36576" anchor="ctr">
                    <a:solidFill>
                      <a:srgbClr val="FFFFFF"/>
                    </a:solidFill>
                  </a:tcPr>
                </a:tc>
                <a:tc>
                  <a:txBody>
                    <a:bodyPr wrap="square"/>
                    <a:lstStyle/>
                    <a:p>
                      <a:pPr algn="ctr"/>
                      <a:r>
                        <a:rPr sz="1150" b="1">
                          <a:solidFill>
                            <a:srgbClr val="991B1B"/>
                          </a:solidFill>
                          <a:latin typeface="Segoe UI"/>
                        </a:rPr>
                        <a:t>BUILD</a:t>
                      </a:r>
                    </a:p>
                  </a:txBody>
                  <a:tcPr marL="73152" marR="73152" marT="36576" marB="36576" anchor="ctr">
                    <a:solidFill>
                      <a:srgbClr val="FEE2E2"/>
                    </a:solidFill>
                  </a:tcPr>
                </a:tc>
                <a:tc>
                  <a:txBody>
                    <a:bodyPr wrap="square"/>
                    <a:lstStyle/>
                    <a:p>
                      <a:r>
                        <a:rPr sz="1150" b="0">
                          <a:solidFill>
                            <a:srgbClr val="1F2933"/>
                          </a:solidFill>
                          <a:latin typeface="Segoe UI"/>
                        </a:rPr>
                        <a:t>Evidence vault, verification workflow, metrics engine, MBDA export</a:t>
                      </a:r>
                    </a:p>
                  </a:txBody>
                  <a:tcPr marL="73152" marR="73152" marT="36576" marB="36576" anchor="ctr">
                    <a:solidFill>
                      <a:srgbClr val="FFFFFF"/>
                    </a:solidFill>
                  </a:tcPr>
                </a:tc>
              </a:tr>
              <a:tr h="475488">
                <a:tc>
                  <a:txBody>
                    <a:bodyPr wrap="square"/>
                    <a:lstStyle/>
                    <a:p>
                      <a:r>
                        <a:rPr sz="1150" b="0">
                          <a:solidFill>
                            <a:srgbClr val="1F2933"/>
                          </a:solidFill>
                          <a:latin typeface="Segoe UI"/>
                        </a:rPr>
                        <a:t>Capital readiness, grant &amp; invoice compliance, partner agreements</a:t>
                      </a:r>
                    </a:p>
                  </a:txBody>
                  <a:tcPr marL="73152" marR="73152" marT="36576" marB="36576" anchor="ctr">
                    <a:solidFill>
                      <a:srgbClr val="F4F7FB"/>
                    </a:solidFill>
                  </a:tcPr>
                </a:tc>
                <a:tc>
                  <a:txBody>
                    <a:bodyPr wrap="square"/>
                    <a:lstStyle/>
                    <a:p>
                      <a:pPr algn="ctr"/>
                      <a:r>
                        <a:rPr sz="1150" b="1">
                          <a:solidFill>
                            <a:srgbClr val="991B1B"/>
                          </a:solidFill>
                          <a:latin typeface="Segoe UI"/>
                        </a:rPr>
                        <a:t>BUILD</a:t>
                      </a:r>
                    </a:p>
                  </a:txBody>
                  <a:tcPr marL="73152" marR="73152" marT="36576" marB="36576" anchor="ctr">
                    <a:solidFill>
                      <a:srgbClr val="FEE2E2"/>
                    </a:solidFill>
                  </a:tcPr>
                </a:tc>
                <a:tc>
                  <a:txBody>
                    <a:bodyPr wrap="square"/>
                    <a:lstStyle/>
                    <a:p>
                      <a:r>
                        <a:rPr sz="1150" b="0">
                          <a:solidFill>
                            <a:srgbClr val="1F2933"/>
                          </a:solidFill>
                          <a:latin typeface="Segoe UI"/>
                        </a:rPr>
                        <a:t>New modules for packages, invoices, and MOU tracking</a:t>
                      </a:r>
                    </a:p>
                  </a:txBody>
                  <a:tcPr marL="73152" marR="73152" marT="36576" marB="36576" anchor="ctr">
                    <a:solidFill>
                      <a:srgbClr val="F4F7FB"/>
                    </a:solidFill>
                  </a:tcPr>
                </a:tc>
              </a:tr>
            </a:tbl>
          </a:graphicData>
        </a:graphic>
      </p:graphicFrame>
      <p:sp>
        <p:nvSpPr>
          <p:cNvPr id="10" name="Rounded Rectangle 9"/>
          <p:cNvSpPr/>
          <p:nvPr/>
        </p:nvSpPr>
        <p:spPr>
          <a:xfrm>
            <a:off x="548640" y="6144768"/>
            <a:ext cx="1051560" cy="27432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065F46"/>
                </a:solidFill>
                <a:latin typeface="Segoe UI"/>
              </a:rPr>
              <a:t>READY</a:t>
            </a:r>
          </a:p>
        </p:txBody>
      </p:sp>
      <p:sp>
        <p:nvSpPr>
          <p:cNvPr id="11" name="TextBox 10"/>
          <p:cNvSpPr txBox="1"/>
          <p:nvPr/>
        </p:nvSpPr>
        <p:spPr>
          <a:xfrm>
            <a:off x="1691640" y="6144768"/>
            <a:ext cx="1554480" cy="274320"/>
          </a:xfrm>
          <a:prstGeom prst="rect">
            <a:avLst/>
          </a:prstGeom>
          <a:noFill/>
        </p:spPr>
        <p:txBody>
          <a:bodyPr wrap="square" anchor="t" lIns="45720" rIns="45720" tIns="27432" bIns="27432">
            <a:spAutoFit/>
          </a:bodyPr>
          <a:lstStyle/>
          <a:p>
            <a:pPr algn="l">
              <a:spcAft>
                <a:spcPts val="400"/>
              </a:spcAft>
            </a:pPr>
            <a:r>
              <a:rPr sz="1050" b="0">
                <a:solidFill>
                  <a:srgbClr val="5F6B7A"/>
                </a:solidFill>
                <a:latin typeface="Segoe UI"/>
              </a:rPr>
              <a:t>Use as-is</a:t>
            </a:r>
          </a:p>
        </p:txBody>
      </p:sp>
      <p:sp>
        <p:nvSpPr>
          <p:cNvPr id="12" name="Rounded Rectangle 11"/>
          <p:cNvSpPr/>
          <p:nvPr/>
        </p:nvSpPr>
        <p:spPr>
          <a:xfrm>
            <a:off x="3337560" y="6144768"/>
            <a:ext cx="1051560" cy="27432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1E40AF"/>
                </a:solidFill>
                <a:latin typeface="Segoe UI"/>
              </a:rPr>
              <a:t>CONFIGURE</a:t>
            </a:r>
          </a:p>
        </p:txBody>
      </p:sp>
      <p:sp>
        <p:nvSpPr>
          <p:cNvPr id="13" name="TextBox 12"/>
          <p:cNvSpPr txBox="1"/>
          <p:nvPr/>
        </p:nvSpPr>
        <p:spPr>
          <a:xfrm>
            <a:off x="4480560" y="6144768"/>
            <a:ext cx="1554480" cy="274320"/>
          </a:xfrm>
          <a:prstGeom prst="rect">
            <a:avLst/>
          </a:prstGeom>
          <a:noFill/>
        </p:spPr>
        <p:txBody>
          <a:bodyPr wrap="square" anchor="t" lIns="45720" rIns="45720" tIns="27432" bIns="27432">
            <a:spAutoFit/>
          </a:bodyPr>
          <a:lstStyle/>
          <a:p>
            <a:pPr algn="l">
              <a:spcAft>
                <a:spcPts val="400"/>
              </a:spcAft>
            </a:pPr>
            <a:r>
              <a:rPr sz="1050" b="0">
                <a:solidFill>
                  <a:srgbClr val="5F6B7A"/>
                </a:solidFill>
                <a:latin typeface="Segoe UI"/>
              </a:rPr>
              <a:t>Settings only</a:t>
            </a:r>
          </a:p>
        </p:txBody>
      </p:sp>
      <p:sp>
        <p:nvSpPr>
          <p:cNvPr id="14" name="Rounded Rectangle 13"/>
          <p:cNvSpPr/>
          <p:nvPr/>
        </p:nvSpPr>
        <p:spPr>
          <a:xfrm>
            <a:off x="6126479" y="6144768"/>
            <a:ext cx="1051560" cy="27432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92400E"/>
                </a:solidFill>
                <a:latin typeface="Segoe UI"/>
              </a:rPr>
              <a:t>EXTEND</a:t>
            </a:r>
          </a:p>
        </p:txBody>
      </p:sp>
      <p:sp>
        <p:nvSpPr>
          <p:cNvPr id="15" name="TextBox 14"/>
          <p:cNvSpPr txBox="1"/>
          <p:nvPr/>
        </p:nvSpPr>
        <p:spPr>
          <a:xfrm>
            <a:off x="7269479" y="6144768"/>
            <a:ext cx="1554480" cy="274320"/>
          </a:xfrm>
          <a:prstGeom prst="rect">
            <a:avLst/>
          </a:prstGeom>
          <a:noFill/>
        </p:spPr>
        <p:txBody>
          <a:bodyPr wrap="square" anchor="t" lIns="45720" rIns="45720" tIns="27432" bIns="27432">
            <a:spAutoFit/>
          </a:bodyPr>
          <a:lstStyle/>
          <a:p>
            <a:pPr algn="l">
              <a:spcAft>
                <a:spcPts val="400"/>
              </a:spcAft>
            </a:pPr>
            <a:r>
              <a:rPr sz="1050" b="0">
                <a:solidFill>
                  <a:srgbClr val="5F6B7A"/>
                </a:solidFill>
                <a:latin typeface="Segoe UI"/>
              </a:rPr>
              <a:t>Code changes</a:t>
            </a:r>
          </a:p>
        </p:txBody>
      </p:sp>
      <p:sp>
        <p:nvSpPr>
          <p:cNvPr id="16" name="Rounded Rectangle 15"/>
          <p:cNvSpPr/>
          <p:nvPr/>
        </p:nvSpPr>
        <p:spPr>
          <a:xfrm>
            <a:off x="8915399" y="6144768"/>
            <a:ext cx="1051560" cy="27432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991B1B"/>
                </a:solidFill>
                <a:latin typeface="Segoe UI"/>
              </a:rPr>
              <a:t>BUILD</a:t>
            </a:r>
          </a:p>
        </p:txBody>
      </p:sp>
      <p:sp>
        <p:nvSpPr>
          <p:cNvPr id="17" name="TextBox 16"/>
          <p:cNvSpPr txBox="1"/>
          <p:nvPr/>
        </p:nvSpPr>
        <p:spPr>
          <a:xfrm>
            <a:off x="10058399" y="6144768"/>
            <a:ext cx="1554480" cy="274320"/>
          </a:xfrm>
          <a:prstGeom prst="rect">
            <a:avLst/>
          </a:prstGeom>
          <a:noFill/>
        </p:spPr>
        <p:txBody>
          <a:bodyPr wrap="square" anchor="t" lIns="45720" rIns="45720" tIns="27432" bIns="27432">
            <a:spAutoFit/>
          </a:bodyPr>
          <a:lstStyle/>
          <a:p>
            <a:pPr algn="l">
              <a:spcAft>
                <a:spcPts val="400"/>
              </a:spcAft>
            </a:pPr>
            <a:r>
              <a:rPr sz="1050" b="0">
                <a:solidFill>
                  <a:srgbClr val="5F6B7A"/>
                </a:solidFill>
                <a:latin typeface="Segoe UI"/>
              </a:rPr>
              <a:t>New module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REQUIREMENTS TRACEABILITY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Every Year 1 milestone maps to a platform capability</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7</a:t>
            </a:r>
          </a:p>
        </p:txBody>
      </p:sp>
      <p:graphicFrame>
        <p:nvGraphicFramePr>
          <p:cNvPr id="9" name="Table 8"/>
          <p:cNvGraphicFramePr>
            <a:graphicFrameLocks noGrp="1"/>
          </p:cNvGraphicFramePr>
          <p:nvPr/>
        </p:nvGraphicFramePr>
        <p:xfrm>
          <a:off x="548640" y="1417320"/>
          <a:ext cx="11064240" cy="4443984"/>
        </p:xfrm>
        <a:graphic>
          <a:graphicData uri="http://schemas.openxmlformats.org/drawingml/2006/table">
            <a:tbl>
              <a:tblPr firstRow="1" bandRow="1">
                <a:tableStyleId>{5C22544A-7EE6-4342-B048-85BDC9FD1C3A}</a:tableStyleId>
              </a:tblPr>
              <a:tblGrid>
                <a:gridCol w="3291840"/>
                <a:gridCol w="3383280"/>
                <a:gridCol w="1371600"/>
                <a:gridCol w="3017520"/>
              </a:tblGrid>
              <a:tr h="493776">
                <a:tc>
                  <a:txBody>
                    <a:bodyPr wrap="square"/>
                    <a:lstStyle/>
                    <a:p>
                      <a:r>
                        <a:rPr sz="1100" b="1">
                          <a:solidFill>
                            <a:srgbClr val="FFFFFF"/>
                          </a:solidFill>
                          <a:latin typeface="Segoe UI"/>
                        </a:rPr>
                        <a:t>Year 1 milestone</a:t>
                      </a:r>
                    </a:p>
                  </a:txBody>
                  <a:tcPr marL="73152" marR="73152" marT="36576" marB="36576" anchor="ctr">
                    <a:solidFill>
                      <a:srgbClr val="0B2545"/>
                    </a:solidFill>
                  </a:tcPr>
                </a:tc>
                <a:tc>
                  <a:txBody>
                    <a:bodyPr wrap="square"/>
                    <a:lstStyle/>
                    <a:p>
                      <a:r>
                        <a:rPr sz="1100" b="1">
                          <a:solidFill>
                            <a:srgbClr val="FFFFFF"/>
                          </a:solidFill>
                          <a:latin typeface="Segoe UI"/>
                        </a:rPr>
                        <a:t>Existing SVP capability</a:t>
                      </a:r>
                    </a:p>
                  </a:txBody>
                  <a:tcPr marL="73152" marR="73152" marT="36576" marB="36576" anchor="ctr">
                    <a:solidFill>
                      <a:srgbClr val="0B2545"/>
                    </a:solidFill>
                  </a:tcPr>
                </a:tc>
                <a:tc>
                  <a:txBody>
                    <a:bodyPr wrap="square"/>
                    <a:lstStyle/>
                    <a:p>
                      <a:r>
                        <a:rPr sz="1100" b="1">
                          <a:solidFill>
                            <a:srgbClr val="FFFFFF"/>
                          </a:solidFill>
                          <a:latin typeface="Segoe UI"/>
                        </a:rPr>
                        <a:t>Rating</a:t>
                      </a:r>
                    </a:p>
                  </a:txBody>
                  <a:tcPr marL="73152" marR="73152" marT="36576" marB="36576" anchor="ctr">
                    <a:solidFill>
                      <a:srgbClr val="0B2545"/>
                    </a:solidFill>
                  </a:tcPr>
                </a:tc>
                <a:tc>
                  <a:txBody>
                    <a:bodyPr wrap="square"/>
                    <a:lstStyle/>
                    <a:p>
                      <a:r>
                        <a:rPr sz="1100" b="1">
                          <a:solidFill>
                            <a:srgbClr val="FFFFFF"/>
                          </a:solidFill>
                          <a:latin typeface="Segoe UI"/>
                        </a:rPr>
                        <a:t>New / extended module</a:t>
                      </a:r>
                    </a:p>
                  </a:txBody>
                  <a:tcPr marL="73152" marR="73152" marT="36576" marB="36576" anchor="ctr">
                    <a:solidFill>
                      <a:srgbClr val="0B2545"/>
                    </a:solidFill>
                  </a:tcPr>
                </a:tc>
              </a:tr>
              <a:tr h="493776">
                <a:tc>
                  <a:txBody>
                    <a:bodyPr wrap="square"/>
                    <a:lstStyle/>
                    <a:p>
                      <a:r>
                        <a:rPr sz="1100" b="0">
                          <a:solidFill>
                            <a:srgbClr val="1F2933"/>
                          </a:solidFill>
                          <a:latin typeface="Segoe UI"/>
                        </a:rPr>
                        <a:t>Platform operational; personnel onboarded</a:t>
                      </a:r>
                    </a:p>
                  </a:txBody>
                  <a:tcPr marL="73152" marR="73152" marT="36576" marB="36576" anchor="ctr">
                    <a:solidFill>
                      <a:srgbClr val="FFFFFF"/>
                    </a:solidFill>
                  </a:tcPr>
                </a:tc>
                <a:tc>
                  <a:txBody>
                    <a:bodyPr wrap="square"/>
                    <a:lstStyle/>
                    <a:p>
                      <a:r>
                        <a:rPr sz="1100" b="0">
                          <a:solidFill>
                            <a:srgbClr val="1F2933"/>
                          </a:solidFill>
                          <a:latin typeface="Segoe UI"/>
                        </a:rPr>
                        <a:t>White-label, user management, system health</a:t>
                      </a:r>
                    </a:p>
                  </a:txBody>
                  <a:tcPr marL="73152" marR="73152" marT="36576" marB="36576" anchor="ctr">
                    <a:solidFill>
                      <a:srgbClr val="FFFFFF"/>
                    </a:solidFill>
                  </a:tcPr>
                </a:tc>
                <a:tc>
                  <a:txBody>
                    <a:bodyPr wrap="square"/>
                    <a:lstStyle/>
                    <a:p>
                      <a:pPr algn="ctr"/>
                      <a:r>
                        <a:rPr sz="1100" b="1">
                          <a:solidFill>
                            <a:srgbClr val="1E40AF"/>
                          </a:solidFill>
                          <a:latin typeface="Segoe UI"/>
                        </a:rPr>
                        <a:t>CONFIGURE</a:t>
                      </a:r>
                    </a:p>
                  </a:txBody>
                  <a:tcPr marL="73152" marR="73152" marT="36576" marB="36576" anchor="ctr">
                    <a:solidFill>
                      <a:srgbClr val="DBEAFE"/>
                    </a:solidFill>
                  </a:tcPr>
                </a:tc>
                <a:tc>
                  <a:txBody>
                    <a:bodyPr wrap="square"/>
                    <a:lstStyle/>
                    <a:p>
                      <a:r>
                        <a:rPr sz="1100" b="0">
                          <a:solidFill>
                            <a:srgbClr val="1F2933"/>
                          </a:solidFill>
                          <a:latin typeface="Segoe UI"/>
                        </a:rPr>
                        <a:t>M1 Tenant &amp; Branding</a:t>
                      </a:r>
                    </a:p>
                  </a:txBody>
                  <a:tcPr marL="73152" marR="73152" marT="36576" marB="36576" anchor="ctr">
                    <a:solidFill>
                      <a:srgbClr val="FFFFFF"/>
                    </a:solidFill>
                  </a:tcPr>
                </a:tc>
              </a:tr>
              <a:tr h="493776">
                <a:tc>
                  <a:txBody>
                    <a:bodyPr wrap="square"/>
                    <a:lstStyle/>
                    <a:p>
                      <a:r>
                        <a:rPr sz="1100" b="0">
                          <a:solidFill>
                            <a:srgbClr val="1F2933"/>
                          </a:solidFill>
                          <a:latin typeface="Segoe UI"/>
                        </a:rPr>
                        <a:t>80% partner agreements executed</a:t>
                      </a:r>
                    </a:p>
                  </a:txBody>
                  <a:tcPr marL="73152" marR="73152" marT="36576" marB="36576" anchor="ctr">
                    <a:solidFill>
                      <a:srgbClr val="F4F7FB"/>
                    </a:solidFill>
                  </a:tcPr>
                </a:tc>
                <a:tc>
                  <a:txBody>
                    <a:bodyPr wrap="square"/>
                    <a:lstStyle/>
                    <a:p>
                      <a:r>
                        <a:rPr sz="1100" b="0">
                          <a:solidFill>
                            <a:srgbClr val="1F2933"/>
                          </a:solidFill>
                          <a:latin typeface="Segoe UI"/>
                        </a:rPr>
                        <a:t>Strategic partners, NDA e-signature</a:t>
                      </a:r>
                    </a:p>
                  </a:txBody>
                  <a:tcPr marL="73152" marR="73152" marT="36576" marB="36576" anchor="ctr">
                    <a:solidFill>
                      <a:srgbClr val="F4F7FB"/>
                    </a:solidFill>
                  </a:tcPr>
                </a:tc>
                <a:tc>
                  <a:txBody>
                    <a:bodyPr wrap="square"/>
                    <a:lstStyle/>
                    <a:p>
                      <a:pPr algn="ctr"/>
                      <a:r>
                        <a:rPr sz="1100" b="1">
                          <a:solidFill>
                            <a:srgbClr val="991B1B"/>
                          </a:solidFill>
                          <a:latin typeface="Segoe UI"/>
                        </a:rPr>
                        <a:t>BUILD</a:t>
                      </a:r>
                    </a:p>
                  </a:txBody>
                  <a:tcPr marL="73152" marR="73152" marT="36576" marB="36576" anchor="ctr">
                    <a:solidFill>
                      <a:srgbClr val="FEE2E2"/>
                    </a:solidFill>
                  </a:tcPr>
                </a:tc>
                <a:tc>
                  <a:txBody>
                    <a:bodyPr wrap="square"/>
                    <a:lstStyle/>
                    <a:p>
                      <a:r>
                        <a:rPr sz="1100" b="0">
                          <a:solidFill>
                            <a:srgbClr val="1F2933"/>
                          </a:solidFill>
                          <a:latin typeface="Segoe UI"/>
                        </a:rPr>
                        <a:t>M13 Partner Agreements</a:t>
                      </a:r>
                    </a:p>
                  </a:txBody>
                  <a:tcPr marL="73152" marR="73152" marT="36576" marB="36576" anchor="ctr">
                    <a:solidFill>
                      <a:srgbClr val="F4F7FB"/>
                    </a:solidFill>
                  </a:tcPr>
                </a:tc>
              </a:tr>
              <a:tr h="493776">
                <a:tc>
                  <a:txBody>
                    <a:bodyPr wrap="square"/>
                    <a:lstStyle/>
                    <a:p>
                      <a:r>
                        <a:rPr sz="1100" b="0">
                          <a:solidFill>
                            <a:srgbClr val="1F2933"/>
                          </a:solidFill>
                          <a:latin typeface="Segoe UI"/>
                        </a:rPr>
                        <a:t>50 clients enrolled; baseline captured</a:t>
                      </a:r>
                    </a:p>
                  </a:txBody>
                  <a:tcPr marL="73152" marR="73152" marT="36576" marB="36576" anchor="ctr">
                    <a:solidFill>
                      <a:srgbClr val="FFFFFF"/>
                    </a:solidFill>
                  </a:tcPr>
                </a:tc>
                <a:tc>
                  <a:txBody>
                    <a:bodyPr wrap="square"/>
                    <a:lstStyle/>
                    <a:p>
                      <a:r>
                        <a:rPr sz="1100" b="0">
                          <a:solidFill>
                            <a:srgbClr val="1F2933"/>
                          </a:solidFill>
                          <a:latin typeface="Segoe UI"/>
                        </a:rPr>
                        <a:t>Client registration, surveys</a:t>
                      </a:r>
                    </a:p>
                  </a:txBody>
                  <a:tcPr marL="73152" marR="73152" marT="36576" marB="36576" anchor="ctr">
                    <a:solidFill>
                      <a:srgbClr val="FFFFFF"/>
                    </a:solidFill>
                  </a:tcPr>
                </a:tc>
                <a:tc>
                  <a:txBody>
                    <a:bodyPr wrap="square"/>
                    <a:lstStyle/>
                    <a:p>
                      <a:pPr algn="ctr"/>
                      <a:r>
                        <a:rPr sz="1100" b="1">
                          <a:solidFill>
                            <a:srgbClr val="92400E"/>
                          </a:solidFill>
                          <a:latin typeface="Segoe UI"/>
                        </a:rPr>
                        <a:t>EXTEND</a:t>
                      </a:r>
                    </a:p>
                  </a:txBody>
                  <a:tcPr marL="73152" marR="73152" marT="36576" marB="36576" anchor="ctr">
                    <a:solidFill>
                      <a:srgbClr val="FEF3C7"/>
                    </a:solidFill>
                  </a:tcPr>
                </a:tc>
                <a:tc>
                  <a:txBody>
                    <a:bodyPr wrap="square"/>
                    <a:lstStyle/>
                    <a:p>
                      <a:r>
                        <a:rPr sz="1100" b="0">
                          <a:solidFill>
                            <a:srgbClr val="1F2933"/>
                          </a:solidFill>
                          <a:latin typeface="Segoe UI"/>
                        </a:rPr>
                        <a:t>M2 Forms, M3 Interview, M4 Intake</a:t>
                      </a:r>
                    </a:p>
                  </a:txBody>
                  <a:tcPr marL="73152" marR="73152" marT="36576" marB="36576" anchor="ctr">
                    <a:solidFill>
                      <a:srgbClr val="FFFFFF"/>
                    </a:solidFill>
                  </a:tcPr>
                </a:tc>
              </a:tr>
              <a:tr h="493776">
                <a:tc>
                  <a:txBody>
                    <a:bodyPr wrap="square"/>
                    <a:lstStyle/>
                    <a:p>
                      <a:r>
                        <a:rPr sz="1100" b="0">
                          <a:solidFill>
                            <a:srgbClr val="1F2933"/>
                          </a:solidFill>
                          <a:latin typeface="Segoe UI"/>
                        </a:rPr>
                        <a:t>10 workshops delivered</a:t>
                      </a:r>
                    </a:p>
                  </a:txBody>
                  <a:tcPr marL="73152" marR="73152" marT="36576" marB="36576" anchor="ctr">
                    <a:solidFill>
                      <a:srgbClr val="F4F7FB"/>
                    </a:solidFill>
                  </a:tcPr>
                </a:tc>
                <a:tc>
                  <a:txBody>
                    <a:bodyPr wrap="square"/>
                    <a:lstStyle/>
                    <a:p>
                      <a:r>
                        <a:rPr sz="1100" b="0">
                          <a:solidFill>
                            <a:srgbClr val="1F2933"/>
                          </a:solidFill>
                          <a:latin typeface="Segoe UI"/>
                        </a:rPr>
                        <a:t>Events, webinars, cohorts</a:t>
                      </a:r>
                    </a:p>
                  </a:txBody>
                  <a:tcPr marL="73152" marR="73152" marT="36576" marB="36576" anchor="ctr">
                    <a:solidFill>
                      <a:srgbClr val="F4F7FB"/>
                    </a:solidFill>
                  </a:tcPr>
                </a:tc>
                <a:tc>
                  <a:txBody>
                    <a:bodyPr wrap="square"/>
                    <a:lstStyle/>
                    <a:p>
                      <a:pPr algn="ctr"/>
                      <a:r>
                        <a:rPr sz="1100" b="1">
                          <a:solidFill>
                            <a:srgbClr val="92400E"/>
                          </a:solidFill>
                          <a:latin typeface="Segoe UI"/>
                        </a:rPr>
                        <a:t>EXTEND</a:t>
                      </a:r>
                    </a:p>
                  </a:txBody>
                  <a:tcPr marL="73152" marR="73152" marT="36576" marB="36576" anchor="ctr">
                    <a:solidFill>
                      <a:srgbClr val="FEF3C7"/>
                    </a:solidFill>
                  </a:tcPr>
                </a:tc>
                <a:tc>
                  <a:txBody>
                    <a:bodyPr wrap="square"/>
                    <a:lstStyle/>
                    <a:p>
                      <a:r>
                        <a:rPr sz="1100" b="0">
                          <a:solidFill>
                            <a:srgbClr val="1F2933"/>
                          </a:solidFill>
                          <a:latin typeface="Segoe UI"/>
                        </a:rPr>
                        <a:t>M7 Learning Hub</a:t>
                      </a:r>
                    </a:p>
                  </a:txBody>
                  <a:tcPr marL="73152" marR="73152" marT="36576" marB="36576" anchor="ctr">
                    <a:solidFill>
                      <a:srgbClr val="F4F7FB"/>
                    </a:solidFill>
                  </a:tcPr>
                </a:tc>
              </a:tr>
              <a:tr h="493776">
                <a:tc>
                  <a:txBody>
                    <a:bodyPr wrap="square"/>
                    <a:lstStyle/>
                    <a:p>
                      <a:r>
                        <a:rPr sz="1100" b="0">
                          <a:solidFill>
                            <a:srgbClr val="1F2933"/>
                          </a:solidFill>
                          <a:latin typeface="Segoe UI"/>
                        </a:rPr>
                        <a:t>15 capital packages</a:t>
                      </a:r>
                    </a:p>
                  </a:txBody>
                  <a:tcPr marL="73152" marR="73152" marT="36576" marB="36576" anchor="ctr">
                    <a:solidFill>
                      <a:srgbClr val="FFFFFF"/>
                    </a:solidFill>
                  </a:tcPr>
                </a:tc>
                <a:tc>
                  <a:txBody>
                    <a:bodyPr wrap="square"/>
                    <a:lstStyle/>
                    <a:p>
                      <a:r>
                        <a:rPr sz="1100" b="0">
                          <a:solidFill>
                            <a:srgbClr val="1F2933"/>
                          </a:solidFill>
                          <a:latin typeface="Segoe UI"/>
                        </a:rPr>
                        <a:t>Proof packs, documents</a:t>
                      </a:r>
                    </a:p>
                  </a:txBody>
                  <a:tcPr marL="73152" marR="73152" marT="36576" marB="36576" anchor="ctr">
                    <a:solidFill>
                      <a:srgbClr val="FFFFFF"/>
                    </a:solidFill>
                  </a:tcPr>
                </a:tc>
                <a:tc>
                  <a:txBody>
                    <a:bodyPr wrap="square"/>
                    <a:lstStyle/>
                    <a:p>
                      <a:pPr algn="ctr"/>
                      <a:r>
                        <a:rPr sz="1100" b="1">
                          <a:solidFill>
                            <a:srgbClr val="991B1B"/>
                          </a:solidFill>
                          <a:latin typeface="Segoe UI"/>
                        </a:rPr>
                        <a:t>BUILD</a:t>
                      </a:r>
                    </a:p>
                  </a:txBody>
                  <a:tcPr marL="73152" marR="73152" marT="36576" marB="36576" anchor="ctr">
                    <a:solidFill>
                      <a:srgbClr val="FEE2E2"/>
                    </a:solidFill>
                  </a:tcPr>
                </a:tc>
                <a:tc>
                  <a:txBody>
                    <a:bodyPr wrap="square"/>
                    <a:lstStyle/>
                    <a:p>
                      <a:r>
                        <a:rPr sz="1100" b="0">
                          <a:solidFill>
                            <a:srgbClr val="1F2933"/>
                          </a:solidFill>
                          <a:latin typeface="Segoe UI"/>
                        </a:rPr>
                        <a:t>M8 Capital Readiness</a:t>
                      </a:r>
                    </a:p>
                  </a:txBody>
                  <a:tcPr marL="73152" marR="73152" marT="36576" marB="36576" anchor="ctr">
                    <a:solidFill>
                      <a:srgbClr val="FFFFFF"/>
                    </a:solidFill>
                  </a:tcPr>
                </a:tc>
              </a:tr>
              <a:tr h="493776">
                <a:tc>
                  <a:txBody>
                    <a:bodyPr wrap="square"/>
                    <a:lstStyle/>
                    <a:p>
                      <a:r>
                        <a:rPr sz="1100" b="0">
                          <a:solidFill>
                            <a:srgbClr val="1F2933"/>
                          </a:solidFill>
                          <a:latin typeface="Segoe UI"/>
                        </a:rPr>
                        <a:t>10 AM / procurement completions</a:t>
                      </a:r>
                    </a:p>
                  </a:txBody>
                  <a:tcPr marL="73152" marR="73152" marT="36576" marB="36576" anchor="ctr">
                    <a:solidFill>
                      <a:srgbClr val="F4F7FB"/>
                    </a:solidFill>
                  </a:tcPr>
                </a:tc>
                <a:tc>
                  <a:txBody>
                    <a:bodyPr wrap="square"/>
                    <a:lstStyle/>
                    <a:p>
                      <a:r>
                        <a:rPr sz="1100" b="0">
                          <a:solidFill>
                            <a:srgbClr val="1F2933"/>
                          </a:solidFill>
                          <a:latin typeface="Segoe UI"/>
                        </a:rPr>
                        <a:t>Cohorts, certificates, readiness</a:t>
                      </a:r>
                    </a:p>
                  </a:txBody>
                  <a:tcPr marL="73152" marR="73152" marT="36576" marB="36576" anchor="ctr">
                    <a:solidFill>
                      <a:srgbClr val="F4F7FB"/>
                    </a:solidFill>
                  </a:tcPr>
                </a:tc>
                <a:tc>
                  <a:txBody>
                    <a:bodyPr wrap="square"/>
                    <a:lstStyle/>
                    <a:p>
                      <a:pPr algn="ctr"/>
                      <a:r>
                        <a:rPr sz="1100" b="1">
                          <a:solidFill>
                            <a:srgbClr val="92400E"/>
                          </a:solidFill>
                          <a:latin typeface="Segoe UI"/>
                        </a:rPr>
                        <a:t>EXTEND</a:t>
                      </a:r>
                    </a:p>
                  </a:txBody>
                  <a:tcPr marL="73152" marR="73152" marT="36576" marB="36576" anchor="ctr">
                    <a:solidFill>
                      <a:srgbClr val="FEF3C7"/>
                    </a:solidFill>
                  </a:tcPr>
                </a:tc>
                <a:tc>
                  <a:txBody>
                    <a:bodyPr wrap="square"/>
                    <a:lstStyle/>
                    <a:p>
                      <a:r>
                        <a:rPr sz="1100" b="0">
                          <a:solidFill>
                            <a:srgbClr val="1F2933"/>
                          </a:solidFill>
                          <a:latin typeface="Segoe UI"/>
                        </a:rPr>
                        <a:t>M7 Learning Hub</a:t>
                      </a:r>
                    </a:p>
                  </a:txBody>
                  <a:tcPr marL="73152" marR="73152" marT="36576" marB="36576" anchor="ctr">
                    <a:solidFill>
                      <a:srgbClr val="F4F7FB"/>
                    </a:solidFill>
                  </a:tcPr>
                </a:tc>
              </a:tr>
              <a:tr h="493776">
                <a:tc>
                  <a:txBody>
                    <a:bodyPr wrap="square"/>
                    <a:lstStyle/>
                    <a:p>
                      <a:r>
                        <a:rPr sz="1100" b="0">
                          <a:solidFill>
                            <a:srgbClr val="1F2933"/>
                          </a:solidFill>
                          <a:latin typeface="Segoe UI"/>
                        </a:rPr>
                        <a:t>Contracts secured; new businesses</a:t>
                      </a:r>
                    </a:p>
                  </a:txBody>
                  <a:tcPr marL="73152" marR="73152" marT="36576" marB="36576" anchor="ctr">
                    <a:solidFill>
                      <a:srgbClr val="FFFFFF"/>
                    </a:solidFill>
                  </a:tcPr>
                </a:tc>
                <a:tc>
                  <a:txBody>
                    <a:bodyPr wrap="square"/>
                    <a:lstStyle/>
                    <a:p>
                      <a:r>
                        <a:rPr sz="1100" b="0">
                          <a:solidFill>
                            <a:srgbClr val="1F2933"/>
                          </a:solidFill>
                          <a:latin typeface="Segoe UI"/>
                        </a:rPr>
                        <a:t>SAM.gov AI, teaming, pursuits</a:t>
                      </a:r>
                    </a:p>
                  </a:txBody>
                  <a:tcPr marL="73152" marR="73152" marT="36576" marB="36576" anchor="ctr">
                    <a:solidFill>
                      <a:srgbClr val="FFFFFF"/>
                    </a:solidFill>
                  </a:tcPr>
                </a:tc>
                <a:tc>
                  <a:txBody>
                    <a:bodyPr wrap="square"/>
                    <a:lstStyle/>
                    <a:p>
                      <a:pPr algn="ctr"/>
                      <a:r>
                        <a:rPr sz="1100" b="1">
                          <a:solidFill>
                            <a:srgbClr val="92400E"/>
                          </a:solidFill>
                          <a:latin typeface="Segoe UI"/>
                        </a:rPr>
                        <a:t>EXTEND</a:t>
                      </a:r>
                    </a:p>
                  </a:txBody>
                  <a:tcPr marL="73152" marR="73152" marT="36576" marB="36576" anchor="ctr">
                    <a:solidFill>
                      <a:srgbClr val="FEF3C7"/>
                    </a:solidFill>
                  </a:tcPr>
                </a:tc>
                <a:tc>
                  <a:txBody>
                    <a:bodyPr wrap="square"/>
                    <a:lstStyle/>
                    <a:p>
                      <a:r>
                        <a:rPr sz="1100" b="0">
                          <a:solidFill>
                            <a:srgbClr val="1F2933"/>
                          </a:solidFill>
                          <a:latin typeface="Segoe UI"/>
                        </a:rPr>
                        <a:t>M9 Proposals, M10 Evidence</a:t>
                      </a:r>
                    </a:p>
                  </a:txBody>
                  <a:tcPr marL="73152" marR="73152" marT="36576" marB="36576" anchor="ctr">
                    <a:solidFill>
                      <a:srgbClr val="FFFFFF"/>
                    </a:solidFill>
                  </a:tcPr>
                </a:tc>
              </a:tr>
              <a:tr h="493776">
                <a:tc>
                  <a:txBody>
                    <a:bodyPr wrap="square"/>
                    <a:lstStyle/>
                    <a:p>
                      <a:r>
                        <a:rPr sz="1100" b="0">
                          <a:solidFill>
                            <a:srgbClr val="1F2933"/>
                          </a:solidFill>
                          <a:latin typeface="Segoe UI"/>
                        </a:rPr>
                        <a:t>Annual performance report</a:t>
                      </a:r>
                    </a:p>
                  </a:txBody>
                  <a:tcPr marL="73152" marR="73152" marT="36576" marB="36576" anchor="ctr">
                    <a:solidFill>
                      <a:srgbClr val="F4F7FB"/>
                    </a:solidFill>
                  </a:tcPr>
                </a:tc>
                <a:tc>
                  <a:txBody>
                    <a:bodyPr wrap="square"/>
                    <a:lstStyle/>
                    <a:p>
                      <a:r>
                        <a:rPr sz="1100" b="0">
                          <a:solidFill>
                            <a:srgbClr val="1F2933"/>
                          </a:solidFill>
                          <a:latin typeface="Segoe UI"/>
                        </a:rPr>
                        <a:t>Analytics (website only today)</a:t>
                      </a:r>
                    </a:p>
                  </a:txBody>
                  <a:tcPr marL="73152" marR="73152" marT="36576" marB="36576" anchor="ctr">
                    <a:solidFill>
                      <a:srgbClr val="F4F7FB"/>
                    </a:solidFill>
                  </a:tcPr>
                </a:tc>
                <a:tc>
                  <a:txBody>
                    <a:bodyPr wrap="square"/>
                    <a:lstStyle/>
                    <a:p>
                      <a:pPr algn="ctr"/>
                      <a:r>
                        <a:rPr sz="1100" b="1">
                          <a:solidFill>
                            <a:srgbClr val="991B1B"/>
                          </a:solidFill>
                          <a:latin typeface="Segoe UI"/>
                        </a:rPr>
                        <a:t>BUILD</a:t>
                      </a:r>
                    </a:p>
                  </a:txBody>
                  <a:tcPr marL="73152" marR="73152" marT="36576" marB="36576" anchor="ctr">
                    <a:solidFill>
                      <a:srgbClr val="FEE2E2"/>
                    </a:solidFill>
                  </a:tcPr>
                </a:tc>
                <a:tc>
                  <a:txBody>
                    <a:bodyPr wrap="square"/>
                    <a:lstStyle/>
                    <a:p>
                      <a:r>
                        <a:rPr sz="1100" b="0">
                          <a:solidFill>
                            <a:srgbClr val="1F2933"/>
                          </a:solidFill>
                          <a:latin typeface="Segoe UI"/>
                        </a:rPr>
                        <a:t>M11 Metrics &amp; Reporting</a:t>
                      </a:r>
                    </a:p>
                  </a:txBody>
                  <a:tcPr marL="73152" marR="73152" marT="36576" marB="36576" anchor="ctr">
                    <a:solidFill>
                      <a:srgbClr val="F4F7F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PRIORITY GAPS</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Ten gaps stand between today and an MBDA-ready center</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8</a:t>
            </a:r>
          </a:p>
        </p:txBody>
      </p:sp>
      <p:sp>
        <p:nvSpPr>
          <p:cNvPr id="9" name="Oval 8"/>
          <p:cNvSpPr/>
          <p:nvPr/>
        </p:nvSpPr>
        <p:spPr>
          <a:xfrm>
            <a:off x="548640" y="1581912"/>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C9A227"/>
                </a:solidFill>
                <a:latin typeface="Segoe UI"/>
              </a:rPr>
              <a:t>1</a:t>
            </a:r>
          </a:p>
        </p:txBody>
      </p:sp>
      <p:sp>
        <p:nvSpPr>
          <p:cNvPr id="10" name="TextBox 9"/>
          <p:cNvSpPr txBox="1"/>
          <p:nvPr/>
        </p:nvSpPr>
        <p:spPr>
          <a:xfrm>
            <a:off x="1280160" y="1581912"/>
            <a:ext cx="4663440" cy="566928"/>
          </a:xfrm>
          <a:prstGeom prst="rect">
            <a:avLst/>
          </a:prstGeom>
          <a:noFill/>
        </p:spPr>
        <p:txBody>
          <a:bodyPr wrap="square" anchor="ctr" lIns="45720" rIns="45720" tIns="27432" bIns="27432">
            <a:spAutoFit/>
          </a:bodyPr>
          <a:lstStyle/>
          <a:p>
            <a:pPr algn="l">
              <a:spcAft>
                <a:spcPts val="400"/>
              </a:spcAft>
            </a:pPr>
            <a:r>
              <a:rPr sz="1500" b="1">
                <a:solidFill>
                  <a:srgbClr val="1F2933"/>
                </a:solidFill>
                <a:latin typeface="Segoe UI"/>
              </a:rPr>
              <a:t>MBDA metrics engine linked to evidence</a:t>
            </a:r>
          </a:p>
        </p:txBody>
      </p:sp>
      <p:sp>
        <p:nvSpPr>
          <p:cNvPr id="11" name="Oval 10"/>
          <p:cNvSpPr/>
          <p:nvPr/>
        </p:nvSpPr>
        <p:spPr>
          <a:xfrm>
            <a:off x="548640" y="2523744"/>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C9A227"/>
                </a:solidFill>
                <a:latin typeface="Segoe UI"/>
              </a:rPr>
              <a:t>2</a:t>
            </a:r>
          </a:p>
        </p:txBody>
      </p:sp>
      <p:sp>
        <p:nvSpPr>
          <p:cNvPr id="12" name="TextBox 11"/>
          <p:cNvSpPr txBox="1"/>
          <p:nvPr/>
        </p:nvSpPr>
        <p:spPr>
          <a:xfrm>
            <a:off x="1280160" y="2523744"/>
            <a:ext cx="4663440" cy="566928"/>
          </a:xfrm>
          <a:prstGeom prst="rect">
            <a:avLst/>
          </a:prstGeom>
          <a:noFill/>
        </p:spPr>
        <p:txBody>
          <a:bodyPr wrap="square" anchor="ctr" lIns="45720" rIns="45720" tIns="27432" bIns="27432">
            <a:spAutoFit/>
          </a:bodyPr>
          <a:lstStyle/>
          <a:p>
            <a:pPr algn="l">
              <a:spcAft>
                <a:spcPts val="400"/>
              </a:spcAft>
            </a:pPr>
            <a:r>
              <a:rPr sz="1500" b="1">
                <a:solidFill>
                  <a:srgbClr val="1F2933"/>
                </a:solidFill>
                <a:latin typeface="Segoe UI"/>
              </a:rPr>
              <a:t>Outcome verification and evidence vault</a:t>
            </a:r>
          </a:p>
        </p:txBody>
      </p:sp>
      <p:sp>
        <p:nvSpPr>
          <p:cNvPr id="13" name="Oval 12"/>
          <p:cNvSpPr/>
          <p:nvPr/>
        </p:nvSpPr>
        <p:spPr>
          <a:xfrm>
            <a:off x="548640" y="3465576"/>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C9A227"/>
                </a:solidFill>
                <a:latin typeface="Segoe UI"/>
              </a:rPr>
              <a:t>3</a:t>
            </a:r>
          </a:p>
        </p:txBody>
      </p:sp>
      <p:sp>
        <p:nvSpPr>
          <p:cNvPr id="14" name="TextBox 13"/>
          <p:cNvSpPr txBox="1"/>
          <p:nvPr/>
        </p:nvSpPr>
        <p:spPr>
          <a:xfrm>
            <a:off x="1280160" y="3465576"/>
            <a:ext cx="4663440" cy="566928"/>
          </a:xfrm>
          <a:prstGeom prst="rect">
            <a:avLst/>
          </a:prstGeom>
          <a:noFill/>
        </p:spPr>
        <p:txBody>
          <a:bodyPr wrap="square" anchor="ctr" lIns="45720" rIns="45720" tIns="27432" bIns="27432">
            <a:spAutoFit/>
          </a:bodyPr>
          <a:lstStyle/>
          <a:p>
            <a:pPr algn="l">
              <a:spcAft>
                <a:spcPts val="400"/>
              </a:spcAft>
            </a:pPr>
            <a:r>
              <a:rPr sz="1500" b="1">
                <a:solidFill>
                  <a:srgbClr val="1F2933"/>
                </a:solidFill>
                <a:latin typeface="Segoe UI"/>
              </a:rPr>
              <a:t>LIFT intake with rural eligibility and signed consent</a:t>
            </a:r>
          </a:p>
        </p:txBody>
      </p:sp>
      <p:sp>
        <p:nvSpPr>
          <p:cNvPr id="15" name="Oval 14"/>
          <p:cNvSpPr/>
          <p:nvPr/>
        </p:nvSpPr>
        <p:spPr>
          <a:xfrm>
            <a:off x="548640" y="4407408"/>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4</a:t>
            </a:r>
          </a:p>
        </p:txBody>
      </p:sp>
      <p:sp>
        <p:nvSpPr>
          <p:cNvPr id="16" name="TextBox 15"/>
          <p:cNvSpPr txBox="1"/>
          <p:nvPr/>
        </p:nvSpPr>
        <p:spPr>
          <a:xfrm>
            <a:off x="1280160" y="4407408"/>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Form Builder port (replaces JotForm)</a:t>
            </a:r>
          </a:p>
        </p:txBody>
      </p:sp>
      <p:sp>
        <p:nvSpPr>
          <p:cNvPr id="17" name="Oval 16"/>
          <p:cNvSpPr/>
          <p:nvPr/>
        </p:nvSpPr>
        <p:spPr>
          <a:xfrm>
            <a:off x="548640" y="5349240"/>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5</a:t>
            </a:r>
          </a:p>
        </p:txBody>
      </p:sp>
      <p:sp>
        <p:nvSpPr>
          <p:cNvPr id="18" name="TextBox 17"/>
          <p:cNvSpPr txBox="1"/>
          <p:nvPr/>
        </p:nvSpPr>
        <p:spPr>
          <a:xfrm>
            <a:off x="1280160" y="5349240"/>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AI Intake Interview port</a:t>
            </a:r>
          </a:p>
        </p:txBody>
      </p:sp>
      <p:sp>
        <p:nvSpPr>
          <p:cNvPr id="19" name="Oval 18"/>
          <p:cNvSpPr/>
          <p:nvPr/>
        </p:nvSpPr>
        <p:spPr>
          <a:xfrm>
            <a:off x="6172200" y="1581912"/>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6</a:t>
            </a:r>
          </a:p>
        </p:txBody>
      </p:sp>
      <p:sp>
        <p:nvSpPr>
          <p:cNvPr id="20" name="TextBox 19"/>
          <p:cNvSpPr txBox="1"/>
          <p:nvPr/>
        </p:nvSpPr>
        <p:spPr>
          <a:xfrm>
            <a:off x="6903720" y="1581912"/>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Program roles and protected data access</a:t>
            </a:r>
          </a:p>
        </p:txBody>
      </p:sp>
      <p:sp>
        <p:nvSpPr>
          <p:cNvPr id="21" name="Oval 20"/>
          <p:cNvSpPr/>
          <p:nvPr/>
        </p:nvSpPr>
        <p:spPr>
          <a:xfrm>
            <a:off x="6172200" y="2523744"/>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7</a:t>
            </a:r>
          </a:p>
        </p:txBody>
      </p:sp>
      <p:sp>
        <p:nvSpPr>
          <p:cNvPr id="22" name="TextBox 21"/>
          <p:cNvSpPr txBox="1"/>
          <p:nvPr/>
        </p:nvSpPr>
        <p:spPr>
          <a:xfrm>
            <a:off x="6903720" y="2523744"/>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Grant compliance and quarterly invoice packets</a:t>
            </a:r>
          </a:p>
        </p:txBody>
      </p:sp>
      <p:sp>
        <p:nvSpPr>
          <p:cNvPr id="23" name="Oval 22"/>
          <p:cNvSpPr/>
          <p:nvPr/>
        </p:nvSpPr>
        <p:spPr>
          <a:xfrm>
            <a:off x="6172200" y="3465576"/>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8</a:t>
            </a:r>
          </a:p>
        </p:txBody>
      </p:sp>
      <p:sp>
        <p:nvSpPr>
          <p:cNvPr id="24" name="TextBox 23"/>
          <p:cNvSpPr txBox="1"/>
          <p:nvPr/>
        </p:nvSpPr>
        <p:spPr>
          <a:xfrm>
            <a:off x="6903720" y="3465576"/>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Proposal Accelerator (replace mock AI)</a:t>
            </a:r>
          </a:p>
        </p:txBody>
      </p:sp>
      <p:sp>
        <p:nvSpPr>
          <p:cNvPr id="25" name="Oval 24"/>
          <p:cNvSpPr/>
          <p:nvPr/>
        </p:nvSpPr>
        <p:spPr>
          <a:xfrm>
            <a:off x="6172200" y="4407408"/>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9</a:t>
            </a:r>
          </a:p>
        </p:txBody>
      </p:sp>
      <p:sp>
        <p:nvSpPr>
          <p:cNvPr id="26" name="TextBox 25"/>
          <p:cNvSpPr txBox="1"/>
          <p:nvPr/>
        </p:nvSpPr>
        <p:spPr>
          <a:xfrm>
            <a:off x="6903720" y="4407408"/>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LIFT Learning Hub (rebranded webinar courses)</a:t>
            </a:r>
          </a:p>
        </p:txBody>
      </p:sp>
      <p:sp>
        <p:nvSpPr>
          <p:cNvPr id="27" name="Oval 26"/>
          <p:cNvSpPr/>
          <p:nvPr/>
        </p:nvSpPr>
        <p:spPr>
          <a:xfrm>
            <a:off x="6172200" y="5349240"/>
            <a:ext cx="566928" cy="566928"/>
          </a:xfrm>
          <a:prstGeom prst="ellipse">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500" b="1">
                <a:solidFill>
                  <a:srgbClr val="FFFFFF"/>
                </a:solidFill>
                <a:latin typeface="Segoe UI"/>
              </a:rPr>
              <a:t>10</a:t>
            </a:r>
          </a:p>
        </p:txBody>
      </p:sp>
      <p:sp>
        <p:nvSpPr>
          <p:cNvPr id="28" name="TextBox 27"/>
          <p:cNvSpPr txBox="1"/>
          <p:nvPr/>
        </p:nvSpPr>
        <p:spPr>
          <a:xfrm>
            <a:off x="6903720" y="5349240"/>
            <a:ext cx="4663440" cy="566928"/>
          </a:xfrm>
          <a:prstGeom prst="rect">
            <a:avLst/>
          </a:prstGeom>
          <a:noFill/>
        </p:spPr>
        <p:txBody>
          <a:bodyPr wrap="square" anchor="ctr" lIns="45720" rIns="45720" tIns="27432" bIns="27432">
            <a:spAutoFit/>
          </a:bodyPr>
          <a:lstStyle/>
          <a:p>
            <a:pPr algn="l">
              <a:spcAft>
                <a:spcPts val="400"/>
              </a:spcAft>
            </a:pPr>
            <a:r>
              <a:rPr sz="1500" b="0">
                <a:solidFill>
                  <a:srgbClr val="1F2933"/>
                </a:solidFill>
                <a:latin typeface="Segoe UI"/>
              </a:rPr>
              <a:t>Partner agreement tracker (80% milestone)</a:t>
            </a:r>
          </a:p>
        </p:txBody>
      </p:sp>
      <p:sp>
        <p:nvSpPr>
          <p:cNvPr id="29" name="TextBox 28"/>
          <p:cNvSpPr txBox="1"/>
          <p:nvPr/>
        </p:nvSpPr>
        <p:spPr>
          <a:xfrm>
            <a:off x="548640" y="6172200"/>
            <a:ext cx="10972800" cy="274320"/>
          </a:xfrm>
          <a:prstGeom prst="rect">
            <a:avLst/>
          </a:prstGeom>
          <a:noFill/>
        </p:spPr>
        <p:txBody>
          <a:bodyPr wrap="square" anchor="t" lIns="45720" rIns="45720" tIns="27432" bIns="27432">
            <a:spAutoFit/>
          </a:bodyPr>
          <a:lstStyle/>
          <a:p>
            <a:pPr algn="l">
              <a:spcAft>
                <a:spcPts val="400"/>
              </a:spcAft>
            </a:pPr>
            <a:r>
              <a:rPr sz="1100" b="0">
                <a:solidFill>
                  <a:srgbClr val="5F6B7A"/>
                </a:solidFill>
                <a:latin typeface="Segoe UI"/>
              </a:rPr>
              <a:t>Gaps 1–3 are critical path: without them, activity cannot be counted toward MBDA measures.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SOLUTION ARCHITECTURE</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Target solution: a dedicated LIFT platform with 15 modules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9</a:t>
            </a:r>
          </a:p>
        </p:txBody>
      </p:sp>
      <p:sp>
        <p:nvSpPr>
          <p:cNvPr id="9" name="Rounded Rectangle 8"/>
          <p:cNvSpPr/>
          <p:nvPr/>
        </p:nvSpPr>
        <p:spPr>
          <a:xfrm>
            <a:off x="548640" y="1463040"/>
            <a:ext cx="3566160" cy="960120"/>
          </a:xfrm>
          <a:prstGeom prst="roundRect">
            <a:avLst>
              <a:gd name="adj" fmla="val 8000"/>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3291840" cy="365760"/>
          </a:xfrm>
          <a:prstGeom prst="rect">
            <a:avLst/>
          </a:prstGeom>
          <a:noFill/>
        </p:spPr>
        <p:txBody>
          <a:bodyPr wrap="square" anchor="t" lIns="45720" rIns="45720" tIns="27432" bIns="27432">
            <a:spAutoFit/>
          </a:bodyPr>
          <a:lstStyle/>
          <a:p>
            <a:pPr algn="l">
              <a:spcAft>
                <a:spcPts val="400"/>
              </a:spcAft>
            </a:pPr>
            <a:r>
              <a:rPr sz="1400" b="1">
                <a:solidFill>
                  <a:srgbClr val="FFFFFF"/>
                </a:solidFill>
                <a:latin typeface="Segoe UI"/>
              </a:rPr>
              <a:t>Public site</a:t>
            </a:r>
          </a:p>
        </p:txBody>
      </p:sp>
      <p:sp>
        <p:nvSpPr>
          <p:cNvPr id="11" name="TextBox 10"/>
          <p:cNvSpPr txBox="1"/>
          <p:nvPr/>
        </p:nvSpPr>
        <p:spPr>
          <a:xfrm>
            <a:off x="685800" y="1874519"/>
            <a:ext cx="3291840" cy="502920"/>
          </a:xfrm>
          <a:prstGeom prst="rect">
            <a:avLst/>
          </a:prstGeom>
          <a:noFill/>
        </p:spPr>
        <p:txBody>
          <a:bodyPr wrap="square" anchor="t" lIns="45720" rIns="45720" tIns="27432" bIns="27432">
            <a:spAutoFit/>
          </a:bodyPr>
          <a:lstStyle/>
          <a:p>
            <a:pPr algn="l">
              <a:spcAft>
                <a:spcPts val="400"/>
              </a:spcAft>
            </a:pPr>
            <a:r>
              <a:rPr sz="1100" b="0">
                <a:solidFill>
                  <a:srgbClr val="DBE4EE"/>
                </a:solidFill>
                <a:latin typeface="Segoe UI"/>
              </a:rPr>
              <a:t>Program info · events · public forms · AI intake</a:t>
            </a:r>
          </a:p>
        </p:txBody>
      </p:sp>
      <p:sp>
        <p:nvSpPr>
          <p:cNvPr id="12" name="Rounded Rectangle 11"/>
          <p:cNvSpPr/>
          <p:nvPr/>
        </p:nvSpPr>
        <p:spPr>
          <a:xfrm>
            <a:off x="4270248" y="1463040"/>
            <a:ext cx="3566160" cy="960120"/>
          </a:xfrm>
          <a:prstGeom prst="roundRect">
            <a:avLst>
              <a:gd name="adj" fmla="val 8000"/>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1508760"/>
            <a:ext cx="3291840" cy="365760"/>
          </a:xfrm>
          <a:prstGeom prst="rect">
            <a:avLst/>
          </a:prstGeom>
          <a:noFill/>
        </p:spPr>
        <p:txBody>
          <a:bodyPr wrap="square" anchor="t" lIns="45720" rIns="45720" tIns="27432" bIns="27432">
            <a:spAutoFit/>
          </a:bodyPr>
          <a:lstStyle/>
          <a:p>
            <a:pPr algn="l">
              <a:spcAft>
                <a:spcPts val="400"/>
              </a:spcAft>
            </a:pPr>
            <a:r>
              <a:rPr sz="1400" b="1">
                <a:solidFill>
                  <a:srgbClr val="FFFFFF"/>
                </a:solidFill>
                <a:latin typeface="Segoe UI"/>
              </a:rPr>
              <a:t>Client portal</a:t>
            </a:r>
          </a:p>
        </p:txBody>
      </p:sp>
      <p:sp>
        <p:nvSpPr>
          <p:cNvPr id="14" name="TextBox 13"/>
          <p:cNvSpPr txBox="1"/>
          <p:nvPr/>
        </p:nvSpPr>
        <p:spPr>
          <a:xfrm>
            <a:off x="4407408" y="1874519"/>
            <a:ext cx="3291840" cy="502920"/>
          </a:xfrm>
          <a:prstGeom prst="rect">
            <a:avLst/>
          </a:prstGeom>
          <a:noFill/>
        </p:spPr>
        <p:txBody>
          <a:bodyPr wrap="square" anchor="t" lIns="45720" rIns="45720" tIns="27432" bIns="27432">
            <a:spAutoFit/>
          </a:bodyPr>
          <a:lstStyle/>
          <a:p>
            <a:pPr algn="l">
              <a:spcAft>
                <a:spcPts val="400"/>
              </a:spcAft>
            </a:pPr>
            <a:r>
              <a:rPr sz="1100" b="0">
                <a:solidFill>
                  <a:srgbClr val="DBE4EE"/>
                </a:solidFill>
                <a:latin typeface="Segoe UI"/>
              </a:rPr>
              <a:t>Intake · signatures · learning · proposals · check-ins</a:t>
            </a:r>
          </a:p>
        </p:txBody>
      </p:sp>
      <p:sp>
        <p:nvSpPr>
          <p:cNvPr id="15" name="Rounded Rectangle 14"/>
          <p:cNvSpPr/>
          <p:nvPr/>
        </p:nvSpPr>
        <p:spPr>
          <a:xfrm>
            <a:off x="7991856" y="1463040"/>
            <a:ext cx="3566160" cy="960120"/>
          </a:xfrm>
          <a:prstGeom prst="roundRect">
            <a:avLst>
              <a:gd name="adj" fmla="val 8000"/>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9016" y="1508760"/>
            <a:ext cx="3291840" cy="365760"/>
          </a:xfrm>
          <a:prstGeom prst="rect">
            <a:avLst/>
          </a:prstGeom>
          <a:noFill/>
        </p:spPr>
        <p:txBody>
          <a:bodyPr wrap="square" anchor="t" lIns="45720" rIns="45720" tIns="27432" bIns="27432">
            <a:spAutoFit/>
          </a:bodyPr>
          <a:lstStyle/>
          <a:p>
            <a:pPr algn="l">
              <a:spcAft>
                <a:spcPts val="400"/>
              </a:spcAft>
            </a:pPr>
            <a:r>
              <a:rPr sz="1400" b="1">
                <a:solidFill>
                  <a:srgbClr val="FFFFFF"/>
                </a:solidFill>
                <a:latin typeface="Segoe UI"/>
              </a:rPr>
              <a:t>Staff &amp; partner portal</a:t>
            </a:r>
          </a:p>
        </p:txBody>
      </p:sp>
      <p:sp>
        <p:nvSpPr>
          <p:cNvPr id="17" name="TextBox 16"/>
          <p:cNvSpPr txBox="1"/>
          <p:nvPr/>
        </p:nvSpPr>
        <p:spPr>
          <a:xfrm>
            <a:off x="8129016" y="1874519"/>
            <a:ext cx="3291840" cy="502920"/>
          </a:xfrm>
          <a:prstGeom prst="rect">
            <a:avLst/>
          </a:prstGeom>
          <a:noFill/>
        </p:spPr>
        <p:txBody>
          <a:bodyPr wrap="square" anchor="t" lIns="45720" rIns="45720" tIns="27432" bIns="27432">
            <a:spAutoFit/>
          </a:bodyPr>
          <a:lstStyle/>
          <a:p>
            <a:pPr algn="l">
              <a:spcAft>
                <a:spcPts val="400"/>
              </a:spcAft>
            </a:pPr>
            <a:r>
              <a:rPr sz="1100" b="0">
                <a:solidFill>
                  <a:srgbClr val="DBE4EE"/>
                </a:solidFill>
                <a:latin typeface="Segoe UI"/>
              </a:rPr>
              <a:t>Pipeline · referrals · verification · MBDA reports · invoices</a:t>
            </a:r>
          </a:p>
        </p:txBody>
      </p:sp>
      <p:sp>
        <p:nvSpPr>
          <p:cNvPr id="18" name="Rounded Rectangle 17"/>
          <p:cNvSpPr/>
          <p:nvPr/>
        </p:nvSpPr>
        <p:spPr>
          <a:xfrm>
            <a:off x="548640" y="2606040"/>
            <a:ext cx="11064240" cy="2057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43200"/>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 Tenant &amp; Branding</a:t>
            </a:r>
          </a:p>
        </p:txBody>
      </p:sp>
      <p:sp>
        <p:nvSpPr>
          <p:cNvPr id="20" name="Rounded Rectangle 19"/>
          <p:cNvSpPr/>
          <p:nvPr/>
        </p:nvSpPr>
        <p:spPr>
          <a:xfrm>
            <a:off x="2898648" y="2743200"/>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M2 Form Builder</a:t>
            </a:r>
          </a:p>
        </p:txBody>
      </p:sp>
      <p:sp>
        <p:nvSpPr>
          <p:cNvPr id="21" name="Rounded Rectangle 20"/>
          <p:cNvSpPr/>
          <p:nvPr/>
        </p:nvSpPr>
        <p:spPr>
          <a:xfrm>
            <a:off x="5065776" y="2743200"/>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M3 AI Intake Interview</a:t>
            </a:r>
          </a:p>
        </p:txBody>
      </p:sp>
      <p:sp>
        <p:nvSpPr>
          <p:cNvPr id="22" name="Rounded Rectangle 21"/>
          <p:cNvSpPr/>
          <p:nvPr/>
        </p:nvSpPr>
        <p:spPr>
          <a:xfrm>
            <a:off x="7232904" y="2743200"/>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M4 Intake &amp; Eligibility</a:t>
            </a:r>
          </a:p>
        </p:txBody>
      </p:sp>
      <p:sp>
        <p:nvSpPr>
          <p:cNvPr id="23" name="Rounded Rectangle 22"/>
          <p:cNvSpPr/>
          <p:nvPr/>
        </p:nvSpPr>
        <p:spPr>
          <a:xfrm>
            <a:off x="9400032" y="2743200"/>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M5 Lifecycle &amp; Cases</a:t>
            </a:r>
          </a:p>
        </p:txBody>
      </p:sp>
      <p:sp>
        <p:nvSpPr>
          <p:cNvPr id="24" name="Rounded Rectangle 23"/>
          <p:cNvSpPr/>
          <p:nvPr/>
        </p:nvSpPr>
        <p:spPr>
          <a:xfrm>
            <a:off x="731520" y="3364992"/>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M6 Referral Routing</a:t>
            </a:r>
          </a:p>
        </p:txBody>
      </p:sp>
      <p:sp>
        <p:nvSpPr>
          <p:cNvPr id="25" name="Rounded Rectangle 24"/>
          <p:cNvSpPr/>
          <p:nvPr/>
        </p:nvSpPr>
        <p:spPr>
          <a:xfrm>
            <a:off x="2898648" y="3364992"/>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M7 Learning Hub</a:t>
            </a:r>
          </a:p>
        </p:txBody>
      </p:sp>
      <p:sp>
        <p:nvSpPr>
          <p:cNvPr id="26" name="Rounded Rectangle 25"/>
          <p:cNvSpPr/>
          <p:nvPr/>
        </p:nvSpPr>
        <p:spPr>
          <a:xfrm>
            <a:off x="5065776" y="3364992"/>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M8 Capital Readiness</a:t>
            </a:r>
          </a:p>
        </p:txBody>
      </p:sp>
      <p:sp>
        <p:nvSpPr>
          <p:cNvPr id="27" name="Rounded Rectangle 26"/>
          <p:cNvSpPr/>
          <p:nvPr/>
        </p:nvSpPr>
        <p:spPr>
          <a:xfrm>
            <a:off x="7232904" y="3364992"/>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M9 Proposal Accelerator</a:t>
            </a:r>
          </a:p>
        </p:txBody>
      </p:sp>
      <p:sp>
        <p:nvSpPr>
          <p:cNvPr id="28" name="Rounded Rectangle 27"/>
          <p:cNvSpPr/>
          <p:nvPr/>
        </p:nvSpPr>
        <p:spPr>
          <a:xfrm>
            <a:off x="9400032" y="3364992"/>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M10 Evidence Vault</a:t>
            </a:r>
          </a:p>
        </p:txBody>
      </p:sp>
      <p:sp>
        <p:nvSpPr>
          <p:cNvPr id="29" name="Rounded Rectangle 28"/>
          <p:cNvSpPr/>
          <p:nvPr/>
        </p:nvSpPr>
        <p:spPr>
          <a:xfrm>
            <a:off x="731520" y="3986784"/>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M11 Metrics &amp; Reporting</a:t>
            </a:r>
          </a:p>
        </p:txBody>
      </p:sp>
      <p:sp>
        <p:nvSpPr>
          <p:cNvPr id="30" name="Rounded Rectangle 29"/>
          <p:cNvSpPr/>
          <p:nvPr/>
        </p:nvSpPr>
        <p:spPr>
          <a:xfrm>
            <a:off x="2898648" y="3986784"/>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M12 Grant &amp; Invoices</a:t>
            </a:r>
          </a:p>
        </p:txBody>
      </p:sp>
      <p:sp>
        <p:nvSpPr>
          <p:cNvPr id="31" name="Rounded Rectangle 30"/>
          <p:cNvSpPr/>
          <p:nvPr/>
        </p:nvSpPr>
        <p:spPr>
          <a:xfrm>
            <a:off x="5065776" y="3986784"/>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M13 Partner Agreements</a:t>
            </a:r>
          </a:p>
        </p:txBody>
      </p:sp>
      <p:sp>
        <p:nvSpPr>
          <p:cNvPr id="32" name="Rounded Rectangle 31"/>
          <p:cNvSpPr/>
          <p:nvPr/>
        </p:nvSpPr>
        <p:spPr>
          <a:xfrm>
            <a:off x="7232904" y="3986784"/>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M14 Feedback &amp; Impact</a:t>
            </a:r>
          </a:p>
        </p:txBody>
      </p:sp>
      <p:sp>
        <p:nvSpPr>
          <p:cNvPr id="33" name="Rounded Rectangle 32"/>
          <p:cNvSpPr/>
          <p:nvPr/>
        </p:nvSpPr>
        <p:spPr>
          <a:xfrm>
            <a:off x="9400032" y="3986784"/>
            <a:ext cx="2057400" cy="5029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2545"/>
                </a:solidFill>
                <a:latin typeface="Segoe UI"/>
              </a:rPr>
              <a:t>M15 AI Assistant &amp; Alerts</a:t>
            </a:r>
          </a:p>
        </p:txBody>
      </p:sp>
      <p:sp>
        <p:nvSpPr>
          <p:cNvPr id="34" name="Rounded Rectangle 33"/>
          <p:cNvSpPr/>
          <p:nvPr/>
        </p:nvSpPr>
        <p:spPr>
          <a:xfrm>
            <a:off x="548640" y="4846320"/>
            <a:ext cx="11064240" cy="68580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892040"/>
            <a:ext cx="10698480" cy="594360"/>
          </a:xfrm>
          <a:prstGeom prst="rect">
            <a:avLst/>
          </a:prstGeom>
          <a:noFill/>
        </p:spPr>
        <p:txBody>
          <a:bodyPr wrap="square" anchor="ctr" lIns="45720" rIns="45720" tIns="27432" bIns="27432">
            <a:spAutoFit/>
          </a:bodyPr>
          <a:lstStyle/>
          <a:p>
            <a:pPr algn="ctr">
              <a:spcAft>
                <a:spcPts val="400"/>
              </a:spcAft>
            </a:pPr>
            <a:r>
              <a:rPr sz="1250" b="1">
                <a:solidFill>
                  <a:srgbClr val="FFFFFF"/>
                </a:solidFill>
                <a:latin typeface="Segoe UI"/>
              </a:rPr>
              <a:t>Shared services: role-based access · audit · program event bus · AI provider · files · e-signature · PDF/Word export · scheduler</a:t>
            </a:r>
          </a:p>
        </p:txBody>
      </p:sp>
      <p:sp>
        <p:nvSpPr>
          <p:cNvPr id="36" name="TextBox 35"/>
          <p:cNvSpPr txBox="1"/>
          <p:nvPr/>
        </p:nvSpPr>
        <p:spPr>
          <a:xfrm>
            <a:off x="548640" y="5715000"/>
            <a:ext cx="11064240" cy="640080"/>
          </a:xfrm>
          <a:prstGeom prst="rect">
            <a:avLst/>
          </a:prstGeom>
          <a:noFill/>
        </p:spPr>
        <p:txBody>
          <a:bodyPr wrap="square" anchor="t" lIns="45720" rIns="45720" tIns="27432" bIns="27432">
            <a:spAutoFit/>
          </a:bodyPr>
          <a:lstStyle/>
          <a:p>
            <a:pPr algn="l">
              <a:spcAft>
                <a:spcPts val="400"/>
              </a:spcAft>
            </a:pPr>
            <a:r>
              <a:rPr sz="1150" b="0">
                <a:solidFill>
                  <a:srgbClr val="5F6B7A"/>
                </a:solidFill>
                <a:latin typeface="Segoe UI"/>
              </a:rPr>
              <a:t>Separate deployment: own Firebase project, domain, and email; LIFT client data never mixes with KDM consortium data. Integrations: SAM.gov · AI provider · email &amp; campaigns · calendar · MBDA performance system export.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HOW THE PLATFORM WORKS</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One client journey, captured end to end</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10</a:t>
            </a:r>
          </a:p>
        </p:txBody>
      </p:sp>
      <p:sp>
        <p:nvSpPr>
          <p:cNvPr id="9" name="Pentagon 8"/>
          <p:cNvSpPr/>
          <p:nvPr/>
        </p:nvSpPr>
        <p:spPr>
          <a:xfrm>
            <a:off x="548640" y="1600200"/>
            <a:ext cx="1953768" cy="914400"/>
          </a:xfrm>
          <a:prstGeom prst="homePlat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Discover</a:t>
            </a:r>
          </a:p>
        </p:txBody>
      </p:sp>
      <p:sp>
        <p:nvSpPr>
          <p:cNvPr id="10" name="TextBox 9"/>
          <p:cNvSpPr txBox="1"/>
          <p:nvPr/>
        </p:nvSpPr>
        <p:spPr>
          <a:xfrm>
            <a:off x="594360"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Outreach, events, partner referrals, KDM pilot invitations</a:t>
            </a:r>
          </a:p>
        </p:txBody>
      </p:sp>
      <p:sp>
        <p:nvSpPr>
          <p:cNvPr id="11" name="Chevron 10"/>
          <p:cNvSpPr/>
          <p:nvPr/>
        </p:nvSpPr>
        <p:spPr>
          <a:xfrm>
            <a:off x="2392680" y="1600200"/>
            <a:ext cx="1953768" cy="91440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Intake</a:t>
            </a:r>
          </a:p>
        </p:txBody>
      </p:sp>
      <p:sp>
        <p:nvSpPr>
          <p:cNvPr id="12" name="TextBox 11"/>
          <p:cNvSpPr txBox="1"/>
          <p:nvPr/>
        </p:nvSpPr>
        <p:spPr>
          <a:xfrm>
            <a:off x="2438400"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AI interview or form; MBDA consent signed; rural eligibility checked</a:t>
            </a:r>
          </a:p>
        </p:txBody>
      </p:sp>
      <p:sp>
        <p:nvSpPr>
          <p:cNvPr id="13" name="Chevron 12"/>
          <p:cNvSpPr/>
          <p:nvPr/>
        </p:nvSpPr>
        <p:spPr>
          <a:xfrm>
            <a:off x="4236720" y="1600200"/>
            <a:ext cx="1953768" cy="91440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Assess</a:t>
            </a:r>
          </a:p>
        </p:txBody>
      </p:sp>
      <p:sp>
        <p:nvSpPr>
          <p:cNvPr id="14" name="TextBox 13"/>
          <p:cNvSpPr txBox="1"/>
          <p:nvPr/>
        </p:nvSpPr>
        <p:spPr>
          <a:xfrm>
            <a:off x="4282439"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Baseline survey and needs assessment; service plan approved</a:t>
            </a:r>
          </a:p>
        </p:txBody>
      </p:sp>
      <p:sp>
        <p:nvSpPr>
          <p:cNvPr id="15" name="Chevron 14"/>
          <p:cNvSpPr/>
          <p:nvPr/>
        </p:nvSpPr>
        <p:spPr>
          <a:xfrm>
            <a:off x="6080759" y="1600200"/>
            <a:ext cx="1953768" cy="91440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Serve</a:t>
            </a:r>
          </a:p>
        </p:txBody>
      </p:sp>
      <p:sp>
        <p:nvSpPr>
          <p:cNvPr id="16" name="TextBox 15"/>
          <p:cNvSpPr txBox="1"/>
          <p:nvPr/>
        </p:nvSpPr>
        <p:spPr>
          <a:xfrm>
            <a:off x="6126479"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Sessions, workshops, cohorts, referrals to SBDC, AM Lab, lenders</a:t>
            </a:r>
          </a:p>
        </p:txBody>
      </p:sp>
      <p:sp>
        <p:nvSpPr>
          <p:cNvPr id="17" name="Chevron 16"/>
          <p:cNvSpPr/>
          <p:nvPr/>
        </p:nvSpPr>
        <p:spPr>
          <a:xfrm>
            <a:off x="7924799" y="1600200"/>
            <a:ext cx="1953768" cy="91440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Outcome</a:t>
            </a:r>
          </a:p>
        </p:txBody>
      </p:sp>
      <p:sp>
        <p:nvSpPr>
          <p:cNvPr id="18" name="TextBox 17"/>
          <p:cNvSpPr txBox="1"/>
          <p:nvPr/>
        </p:nvSpPr>
        <p:spPr>
          <a:xfrm>
            <a:off x="7970520"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Capital, jobs, contracts, new starts claimed with evidence</a:t>
            </a:r>
          </a:p>
        </p:txBody>
      </p:sp>
      <p:sp>
        <p:nvSpPr>
          <p:cNvPr id="19" name="Chevron 18"/>
          <p:cNvSpPr/>
          <p:nvPr/>
        </p:nvSpPr>
        <p:spPr>
          <a:xfrm>
            <a:off x="9768839" y="1600200"/>
            <a:ext cx="1844040" cy="91440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Report</a:t>
            </a:r>
          </a:p>
        </p:txBody>
      </p:sp>
      <p:sp>
        <p:nvSpPr>
          <p:cNvPr id="20" name="TextBox 19"/>
          <p:cNvSpPr txBox="1"/>
          <p:nvPr/>
        </p:nvSpPr>
        <p:spPr>
          <a:xfrm>
            <a:off x="9814560" y="262432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Verified facts roll up to MBDA measures and report packs</a:t>
            </a:r>
          </a:p>
        </p:txBody>
      </p:sp>
      <p:sp>
        <p:nvSpPr>
          <p:cNvPr id="21" name="Rounded Rectangle 20"/>
          <p:cNvSpPr/>
          <p:nvPr/>
        </p:nvSpPr>
        <p:spPr>
          <a:xfrm>
            <a:off x="548640" y="3977639"/>
            <a:ext cx="3566160" cy="22860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87368"/>
            <a:ext cx="64008" cy="2066543"/>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08736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Unified client ID</a:t>
            </a:r>
          </a:p>
        </p:txBody>
      </p:sp>
      <p:sp>
        <p:nvSpPr>
          <p:cNvPr id="24" name="TextBox 23"/>
          <p:cNvSpPr txBox="1"/>
          <p:nvPr/>
        </p:nvSpPr>
        <p:spPr>
          <a:xfrm>
            <a:off x="749808" y="4526279"/>
            <a:ext cx="3246120" cy="16459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One record follows each business across Southern units, partners, and KDM services, preventing duplicate counts.</a:t>
            </a:r>
          </a:p>
        </p:txBody>
      </p:sp>
      <p:sp>
        <p:nvSpPr>
          <p:cNvPr id="25" name="Rounded Rectangle 24"/>
          <p:cNvSpPr/>
          <p:nvPr/>
        </p:nvSpPr>
        <p:spPr>
          <a:xfrm>
            <a:off x="4297680" y="3977639"/>
            <a:ext cx="3566160" cy="22860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4087368"/>
            <a:ext cx="64008" cy="206654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408736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Evidence at every step</a:t>
            </a:r>
          </a:p>
        </p:txBody>
      </p:sp>
      <p:sp>
        <p:nvSpPr>
          <p:cNvPr id="28" name="TextBox 27"/>
          <p:cNvSpPr txBox="1"/>
          <p:nvPr/>
        </p:nvSpPr>
        <p:spPr>
          <a:xfrm>
            <a:off x="4498848" y="4526279"/>
            <a:ext cx="3246120" cy="16459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Signed consent, attendance, certificates, and award documents are attached to the outcome they prove.</a:t>
            </a:r>
          </a:p>
        </p:txBody>
      </p:sp>
      <p:sp>
        <p:nvSpPr>
          <p:cNvPr id="29" name="Rounded Rectangle 28"/>
          <p:cNvSpPr/>
          <p:nvPr/>
        </p:nvSpPr>
        <p:spPr>
          <a:xfrm>
            <a:off x="8046720" y="3977639"/>
            <a:ext cx="3566160" cy="22860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20" y="4087368"/>
            <a:ext cx="64008" cy="2066543"/>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7888" y="408736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Humans decide, AI assists</a:t>
            </a:r>
          </a:p>
        </p:txBody>
      </p:sp>
      <p:sp>
        <p:nvSpPr>
          <p:cNvPr id="32" name="TextBox 31"/>
          <p:cNvSpPr txBox="1"/>
          <p:nvPr/>
        </p:nvSpPr>
        <p:spPr>
          <a:xfrm>
            <a:off x="8247888" y="4526279"/>
            <a:ext cx="3246120" cy="16459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AI drafts and flags; staff confirm eligibility, verify outcomes, and approve submissions.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FEATURED CAPABILITY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AI Intake Interview: faster onboarding, better baseline data</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11</a:t>
            </a:r>
          </a:p>
        </p:txBody>
      </p:sp>
      <p:sp>
        <p:nvSpPr>
          <p:cNvPr id="9" name="Rounded Rectangle 8"/>
          <p:cNvSpPr/>
          <p:nvPr/>
        </p:nvSpPr>
        <p:spPr>
          <a:xfrm>
            <a:off x="548640" y="1463040"/>
            <a:ext cx="5394960" cy="30175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72768"/>
            <a:ext cx="64008" cy="2798063"/>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572768"/>
            <a:ext cx="50749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How it works</a:t>
            </a:r>
          </a:p>
        </p:txBody>
      </p:sp>
      <p:sp>
        <p:nvSpPr>
          <p:cNvPr id="12" name="TextBox 11"/>
          <p:cNvSpPr txBox="1"/>
          <p:nvPr/>
        </p:nvSpPr>
        <p:spPr>
          <a:xfrm>
            <a:off x="749808" y="2011680"/>
            <a:ext cx="5074920" cy="2377439"/>
          </a:xfrm>
          <a:prstGeom prst="rect">
            <a:avLst/>
          </a:prstGeom>
          <a:noFill/>
        </p:spPr>
        <p:txBody>
          <a:bodyPr wrap="square" anchor="t" lIns="45720" rIns="45720" tIns="27432" bIns="27432">
            <a:spAutoFit/>
          </a:bodyPr>
          <a:lstStyle/>
          <a:p>
            <a:pPr algn="l">
              <a:spcAft>
                <a:spcPts val="600"/>
              </a:spcAft>
            </a:pPr>
            <a:r>
              <a:rPr sz="1300" b="0">
                <a:solidFill>
                  <a:srgbClr val="1F2933"/>
                </a:solidFill>
                <a:latin typeface="Segoe UI"/>
              </a:rPr>
              <a:t>•  Conversational, one question at a time — mobile and low-bandwidth friendly</a:t>
            </a:r>
          </a:p>
          <a:p>
            <a:pPr algn="l">
              <a:spcAft>
                <a:spcPts val="600"/>
              </a:spcAft>
            </a:pPr>
            <a:r>
              <a:rPr sz="1300" b="0">
                <a:solidFill>
                  <a:srgbClr val="1F2933"/>
                </a:solidFill>
                <a:latin typeface="Segoe UI"/>
              </a:rPr>
              <a:t>•  Public (no sign-in) or client-portal mode</a:t>
            </a:r>
          </a:p>
          <a:p>
            <a:pPr algn="l">
              <a:spcAft>
                <a:spcPts val="600"/>
              </a:spcAft>
            </a:pPr>
            <a:r>
              <a:rPr sz="1300" b="0">
                <a:solidFill>
                  <a:srgbClr val="1F2933"/>
                </a:solidFill>
                <a:latin typeface="Segoe UI"/>
              </a:rPr>
              <a:t>•  Tracks coverage of required topics; accepts financial and capability documents</a:t>
            </a:r>
          </a:p>
          <a:p>
            <a:pPr algn="l">
              <a:spcAft>
                <a:spcPts val="600"/>
              </a:spcAft>
            </a:pPr>
            <a:r>
              <a:rPr sz="1300" b="0">
                <a:solidFill>
                  <a:srgbClr val="1F2933"/>
                </a:solidFill>
                <a:latin typeface="Segoe UI"/>
              </a:rPr>
              <a:t>•  Produces a draft intake record, needs assessment, and recommended service plan</a:t>
            </a:r>
          </a:p>
          <a:p>
            <a:pPr algn="l">
              <a:spcAft>
                <a:spcPts val="600"/>
              </a:spcAft>
            </a:pPr>
            <a:r>
              <a:rPr sz="1300" b="0">
                <a:solidFill>
                  <a:srgbClr val="1F2933"/>
                </a:solidFill>
                <a:latin typeface="Segoe UI"/>
              </a:rPr>
              <a:t>•  Deterministic fallback if the AI service is unavailable; every version hashed and audited</a:t>
            </a:r>
          </a:p>
        </p:txBody>
      </p:sp>
      <p:graphicFrame>
        <p:nvGraphicFramePr>
          <p:cNvPr id="13" name="Table 12"/>
          <p:cNvGraphicFramePr>
            <a:graphicFrameLocks noGrp="1"/>
          </p:cNvGraphicFramePr>
          <p:nvPr/>
        </p:nvGraphicFramePr>
        <p:xfrm>
          <a:off x="6172200" y="1463040"/>
          <a:ext cx="5440680" cy="2907792"/>
        </p:xfrm>
        <a:graphic>
          <a:graphicData uri="http://schemas.openxmlformats.org/drawingml/2006/table">
            <a:tbl>
              <a:tblPr firstRow="1" bandRow="1">
                <a:tableStyleId>{5C22544A-7EE6-4342-B048-85BDC9FD1C3A}</a:tableStyleId>
              </a:tblPr>
              <a:tblGrid>
                <a:gridCol w="2743200"/>
                <a:gridCol w="2697480"/>
              </a:tblGrid>
              <a:tr h="484632">
                <a:tc>
                  <a:txBody>
                    <a:bodyPr wrap="square"/>
                    <a:lstStyle/>
                    <a:p>
                      <a:r>
                        <a:rPr sz="1150" b="1">
                          <a:solidFill>
                            <a:srgbClr val="FFFFFF"/>
                          </a:solidFill>
                          <a:latin typeface="Segoe UI"/>
                        </a:rPr>
                        <a:t>LIFT interview template</a:t>
                      </a:r>
                    </a:p>
                  </a:txBody>
                  <a:tcPr marL="73152" marR="73152" marT="36576" marB="36576" anchor="ctr">
                    <a:solidFill>
                      <a:srgbClr val="0B2545"/>
                    </a:solidFill>
                  </a:tcPr>
                </a:tc>
                <a:tc>
                  <a:txBody>
                    <a:bodyPr wrap="square"/>
                    <a:lstStyle/>
                    <a:p>
                      <a:r>
                        <a:rPr sz="1150" b="1">
                          <a:solidFill>
                            <a:srgbClr val="FFFFFF"/>
                          </a:solidFill>
                          <a:latin typeface="Segoe UI"/>
                        </a:rPr>
                        <a:t>Produces</a:t>
                      </a:r>
                    </a:p>
                  </a:txBody>
                  <a:tcPr marL="73152" marR="73152" marT="36576" marB="36576" anchor="ctr">
                    <a:solidFill>
                      <a:srgbClr val="0B2545"/>
                    </a:solidFill>
                  </a:tcPr>
                </a:tc>
              </a:tr>
              <a:tr h="484632">
                <a:tc>
                  <a:txBody>
                    <a:bodyPr wrap="square"/>
                    <a:lstStyle/>
                    <a:p>
                      <a:r>
                        <a:rPr sz="1150" b="0">
                          <a:solidFill>
                            <a:srgbClr val="1F2933"/>
                          </a:solidFill>
                          <a:latin typeface="Segoe UI"/>
                        </a:rPr>
                        <a:t>Client intake</a:t>
                      </a:r>
                    </a:p>
                  </a:txBody>
                  <a:tcPr marL="73152" marR="73152" marT="36576" marB="36576" anchor="ctr">
                    <a:solidFill>
                      <a:srgbClr val="FFFFFF"/>
                    </a:solidFill>
                  </a:tcPr>
                </a:tc>
                <a:tc>
                  <a:txBody>
                    <a:bodyPr wrap="square"/>
                    <a:lstStyle/>
                    <a:p>
                      <a:r>
                        <a:rPr sz="1150" b="0">
                          <a:solidFill>
                            <a:srgbClr val="1F2933"/>
                          </a:solidFill>
                          <a:latin typeface="Segoe UI"/>
                        </a:rPr>
                        <a:t>Draft client record + service plan</a:t>
                      </a:r>
                    </a:p>
                  </a:txBody>
                  <a:tcPr marL="73152" marR="73152" marT="36576" marB="36576" anchor="ctr">
                    <a:solidFill>
                      <a:srgbClr val="FFFFFF"/>
                    </a:solidFill>
                  </a:tcPr>
                </a:tc>
              </a:tr>
              <a:tr h="484632">
                <a:tc>
                  <a:txBody>
                    <a:bodyPr wrap="square"/>
                    <a:lstStyle/>
                    <a:p>
                      <a:r>
                        <a:rPr sz="1150" b="0">
                          <a:solidFill>
                            <a:srgbClr val="1F2933"/>
                          </a:solidFill>
                          <a:latin typeface="Segoe UI"/>
                        </a:rPr>
                        <a:t>Baseline assessment</a:t>
                      </a:r>
                    </a:p>
                  </a:txBody>
                  <a:tcPr marL="73152" marR="73152" marT="36576" marB="36576" anchor="ctr">
                    <a:solidFill>
                      <a:srgbClr val="F4F7FB"/>
                    </a:solidFill>
                  </a:tcPr>
                </a:tc>
                <a:tc>
                  <a:txBody>
                    <a:bodyPr wrap="square"/>
                    <a:lstStyle/>
                    <a:p>
                      <a:r>
                        <a:rPr sz="1150" b="0">
                          <a:solidFill>
                            <a:srgbClr val="1F2933"/>
                          </a:solidFill>
                          <a:latin typeface="Segoe UI"/>
                        </a:rPr>
                        <a:t>Revenue, jobs, capital snapshot</a:t>
                      </a:r>
                    </a:p>
                  </a:txBody>
                  <a:tcPr marL="73152" marR="73152" marT="36576" marB="36576" anchor="ctr">
                    <a:solidFill>
                      <a:srgbClr val="F4F7FB"/>
                    </a:solidFill>
                  </a:tcPr>
                </a:tc>
              </a:tr>
              <a:tr h="484632">
                <a:tc>
                  <a:txBody>
                    <a:bodyPr wrap="square"/>
                    <a:lstStyle/>
                    <a:p>
                      <a:r>
                        <a:rPr sz="1150" b="0">
                          <a:solidFill>
                            <a:srgbClr val="1F2933"/>
                          </a:solidFill>
                          <a:latin typeface="Segoe UI"/>
                        </a:rPr>
                        <a:t>6- and 12-month check-ins</a:t>
                      </a:r>
                    </a:p>
                  </a:txBody>
                  <a:tcPr marL="73152" marR="73152" marT="36576" marB="36576" anchor="ctr">
                    <a:solidFill>
                      <a:srgbClr val="FFFFFF"/>
                    </a:solidFill>
                  </a:tcPr>
                </a:tc>
                <a:tc>
                  <a:txBody>
                    <a:bodyPr wrap="square"/>
                    <a:lstStyle/>
                    <a:p>
                      <a:r>
                        <a:rPr sz="1150" b="0">
                          <a:solidFill>
                            <a:srgbClr val="1F2933"/>
                          </a:solidFill>
                          <a:latin typeface="Segoe UI"/>
                        </a:rPr>
                        <a:t>Outcome claims with evidence requests</a:t>
                      </a:r>
                    </a:p>
                  </a:txBody>
                  <a:tcPr marL="73152" marR="73152" marT="36576" marB="36576" anchor="ctr">
                    <a:solidFill>
                      <a:srgbClr val="FFFFFF"/>
                    </a:solidFill>
                  </a:tcPr>
                </a:tc>
              </a:tr>
              <a:tr h="484632">
                <a:tc>
                  <a:txBody>
                    <a:bodyPr wrap="square"/>
                    <a:lstStyle/>
                    <a:p>
                      <a:r>
                        <a:rPr sz="1150" b="0">
                          <a:solidFill>
                            <a:srgbClr val="1F2933"/>
                          </a:solidFill>
                          <a:latin typeface="Segoe UI"/>
                        </a:rPr>
                        <a:t>Advisor session debrief</a:t>
                      </a:r>
                    </a:p>
                  </a:txBody>
                  <a:tcPr marL="73152" marR="73152" marT="36576" marB="36576" anchor="ctr">
                    <a:solidFill>
                      <a:srgbClr val="F4F7FB"/>
                    </a:solidFill>
                  </a:tcPr>
                </a:tc>
                <a:tc>
                  <a:txBody>
                    <a:bodyPr wrap="square"/>
                    <a:lstStyle/>
                    <a:p>
                      <a:r>
                        <a:rPr sz="1150" b="0">
                          <a:solidFill>
                            <a:srgbClr val="1F2933"/>
                          </a:solidFill>
                          <a:latin typeface="Segoe UI"/>
                        </a:rPr>
                        <a:t>Session log and next steps</a:t>
                      </a:r>
                    </a:p>
                  </a:txBody>
                  <a:tcPr marL="73152" marR="73152" marT="36576" marB="36576" anchor="ctr">
                    <a:solidFill>
                      <a:srgbClr val="F4F7FB"/>
                    </a:solidFill>
                  </a:tcPr>
                </a:tc>
              </a:tr>
              <a:tr h="484632">
                <a:tc>
                  <a:txBody>
                    <a:bodyPr wrap="square"/>
                    <a:lstStyle/>
                    <a:p>
                      <a:r>
                        <a:rPr sz="1150" b="0">
                          <a:solidFill>
                            <a:srgbClr val="1F2933"/>
                          </a:solidFill>
                          <a:latin typeface="Segoe UI"/>
                        </a:rPr>
                        <a:t>Partner intake</a:t>
                      </a:r>
                    </a:p>
                  </a:txBody>
                  <a:tcPr marL="73152" marR="73152" marT="36576" marB="36576" anchor="ctr">
                    <a:solidFill>
                      <a:srgbClr val="FFFFFF"/>
                    </a:solidFill>
                  </a:tcPr>
                </a:tc>
                <a:tc>
                  <a:txBody>
                    <a:bodyPr wrap="square"/>
                    <a:lstStyle/>
                    <a:p>
                      <a:r>
                        <a:rPr sz="1150" b="0">
                          <a:solidFill>
                            <a:srgbClr val="1F2933"/>
                          </a:solidFill>
                          <a:latin typeface="Segoe UI"/>
                        </a:rPr>
                        <a:t>Partner profile and agreement task</a:t>
                      </a:r>
                    </a:p>
                  </a:txBody>
                  <a:tcPr marL="73152" marR="73152" marT="36576" marB="36576" anchor="ctr">
                    <a:solidFill>
                      <a:srgbClr val="FFFFFF"/>
                    </a:solidFill>
                  </a:tcPr>
                </a:tc>
              </a:tr>
            </a:tbl>
          </a:graphicData>
        </a:graphic>
      </p:graphicFrame>
      <p:sp>
        <p:nvSpPr>
          <p:cNvPr id="14" name="Rounded Rectangle 13"/>
          <p:cNvSpPr/>
          <p:nvPr/>
        </p:nvSpPr>
        <p:spPr>
          <a:xfrm>
            <a:off x="548640" y="4709160"/>
            <a:ext cx="11064240" cy="15544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10607040" cy="1371600"/>
          </a:xfrm>
          <a:prstGeom prst="rect">
            <a:avLst/>
          </a:prstGeom>
          <a:noFill/>
        </p:spPr>
        <p:txBody>
          <a:bodyPr wrap="square" anchor="ctr" lIns="45720" rIns="45720" tIns="27432" bIns="27432">
            <a:spAutoFit/>
          </a:bodyPr>
          <a:lstStyle/>
          <a:p>
            <a:pPr algn="l">
              <a:spcAft>
                <a:spcPts val="1000"/>
              </a:spcAft>
            </a:pPr>
            <a:r>
              <a:rPr sz="1400" b="0">
                <a:solidFill>
                  <a:srgbClr val="1F2933"/>
                </a:solidFill>
                <a:latin typeface="Segoe UI"/>
              </a:rPr>
              <a:t>Safeguards: no client counts as enrolled until staff confirm and the MBDA consent form is signed. AI never decides eligibility.</a:t>
            </a:r>
          </a:p>
          <a:p>
            <a:pPr algn="l">
              <a:spcAft>
                <a:spcPts val="1000"/>
              </a:spcAft>
            </a:pPr>
            <a:r>
              <a:rPr sz="1400" b="0">
                <a:solidFill>
                  <a:srgbClr val="1F2933"/>
                </a:solidFill>
                <a:latin typeface="Segoe UI"/>
              </a:rPr>
              <a:t>Supports: Clients Served, baseline data (Q2), Jobs Supported, Revenue Growth, Capital Infusion, Contracts Secured.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FEATURED CAPABILITY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Form Builder: replaces JotForm with signed, connected forms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12</a:t>
            </a:r>
          </a:p>
        </p:txBody>
      </p:sp>
      <p:sp>
        <p:nvSpPr>
          <p:cNvPr id="9" name="Rounded Rectangle 8"/>
          <p:cNvSpPr/>
          <p:nvPr/>
        </p:nvSpPr>
        <p:spPr>
          <a:xfrm>
            <a:off x="548640" y="1463040"/>
            <a:ext cx="4572000" cy="329184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72768"/>
            <a:ext cx="64008" cy="307238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572768"/>
            <a:ext cx="425196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Why it beats a standalone form tool</a:t>
            </a:r>
          </a:p>
        </p:txBody>
      </p:sp>
      <p:sp>
        <p:nvSpPr>
          <p:cNvPr id="12" name="TextBox 11"/>
          <p:cNvSpPr txBox="1"/>
          <p:nvPr/>
        </p:nvSpPr>
        <p:spPr>
          <a:xfrm>
            <a:off x="749808" y="2011680"/>
            <a:ext cx="4251960" cy="2651760"/>
          </a:xfrm>
          <a:prstGeom prst="rect">
            <a:avLst/>
          </a:prstGeom>
          <a:noFill/>
        </p:spPr>
        <p:txBody>
          <a:bodyPr wrap="square" anchor="t" lIns="45720" rIns="45720" tIns="27432" bIns="27432">
            <a:spAutoFit/>
          </a:bodyPr>
          <a:lstStyle/>
          <a:p>
            <a:pPr algn="l">
              <a:spcAft>
                <a:spcPts val="600"/>
              </a:spcAft>
            </a:pPr>
            <a:r>
              <a:rPr sz="1300" b="0">
                <a:solidFill>
                  <a:srgbClr val="1F2933"/>
                </a:solidFill>
                <a:latin typeface="Segoe UI"/>
              </a:rPr>
              <a:t>•  Writes one submission to multiple program records</a:t>
            </a:r>
          </a:p>
          <a:p>
            <a:pPr algn="l">
              <a:spcAft>
                <a:spcPts val="600"/>
              </a:spcAft>
            </a:pPr>
            <a:r>
              <a:rPr sz="1300" b="0">
                <a:solidFill>
                  <a:srgbClr val="1F2933"/>
                </a:solidFill>
                <a:latin typeface="Segoe UI"/>
              </a:rPr>
              <a:t>•  Import the official MBDA intake PDF and sign it as-is</a:t>
            </a:r>
          </a:p>
          <a:p>
            <a:pPr algn="l">
              <a:spcAft>
                <a:spcPts val="600"/>
              </a:spcAft>
            </a:pPr>
            <a:r>
              <a:rPr sz="1300" b="0">
                <a:solidFill>
                  <a:srgbClr val="1F2933"/>
                </a:solidFill>
                <a:latin typeface="Segoe UI"/>
              </a:rPr>
              <a:t>•  Standard, conversational, and document-overlay modes</a:t>
            </a:r>
          </a:p>
          <a:p>
            <a:pPr algn="l">
              <a:spcAft>
                <a:spcPts val="600"/>
              </a:spcAft>
            </a:pPr>
            <a:r>
              <a:rPr sz="1300" b="0">
                <a:solidFill>
                  <a:srgbClr val="1F2933"/>
                </a:solidFill>
                <a:latin typeface="Segoe UI"/>
              </a:rPr>
              <a:t>•  Signatures, file uploads, ratings, repeating tables</a:t>
            </a:r>
          </a:p>
          <a:p>
            <a:pPr algn="l">
              <a:spcAft>
                <a:spcPts val="600"/>
              </a:spcAft>
            </a:pPr>
            <a:r>
              <a:rPr sz="1300" b="0">
                <a:solidFill>
                  <a:srgbClr val="1F2933"/>
                </a:solidFill>
                <a:latin typeface="Segoe UI"/>
              </a:rPr>
              <a:t>•  AI builds forms and optimizes questions for reporting</a:t>
            </a:r>
          </a:p>
          <a:p>
            <a:pPr algn="l">
              <a:spcAft>
                <a:spcPts val="600"/>
              </a:spcAft>
            </a:pPr>
            <a:r>
              <a:rPr sz="1300" b="0">
                <a:solidFill>
                  <a:srgbClr val="1F2933"/>
                </a:solidFill>
                <a:latin typeface="Segoe UI"/>
              </a:rPr>
              <a:t>•  Drop-off analytics and branded PDF of each submission</a:t>
            </a:r>
          </a:p>
        </p:txBody>
      </p:sp>
      <p:sp>
        <p:nvSpPr>
          <p:cNvPr id="13" name="TextBox 12"/>
          <p:cNvSpPr txBox="1"/>
          <p:nvPr/>
        </p:nvSpPr>
        <p:spPr>
          <a:xfrm>
            <a:off x="5349240" y="1463040"/>
            <a:ext cx="6217920" cy="32004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LIFT FORM CATALOG</a:t>
            </a:r>
          </a:p>
        </p:txBody>
      </p:sp>
      <p:sp>
        <p:nvSpPr>
          <p:cNvPr id="14" name="Rounded Rectangle 13"/>
          <p:cNvSpPr/>
          <p:nvPr/>
        </p:nvSpPr>
        <p:spPr>
          <a:xfrm>
            <a:off x="5349240" y="1828800"/>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MBDA intake &amp; engagement (signed)</a:t>
            </a:r>
          </a:p>
        </p:txBody>
      </p:sp>
      <p:sp>
        <p:nvSpPr>
          <p:cNvPr id="15" name="Rounded Rectangle 14"/>
          <p:cNvSpPr/>
          <p:nvPr/>
        </p:nvSpPr>
        <p:spPr>
          <a:xfrm>
            <a:off x="8503920" y="1828800"/>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Rural eligibility attestation</a:t>
            </a:r>
          </a:p>
        </p:txBody>
      </p:sp>
      <p:sp>
        <p:nvSpPr>
          <p:cNvPr id="16" name="Rounded Rectangle 15"/>
          <p:cNvSpPr/>
          <p:nvPr/>
        </p:nvSpPr>
        <p:spPr>
          <a:xfrm>
            <a:off x="5349240" y="2395728"/>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Baseline survey</a:t>
            </a:r>
          </a:p>
        </p:txBody>
      </p:sp>
      <p:sp>
        <p:nvSpPr>
          <p:cNvPr id="17" name="Rounded Rectangle 16"/>
          <p:cNvSpPr/>
          <p:nvPr/>
        </p:nvSpPr>
        <p:spPr>
          <a:xfrm>
            <a:off x="8503920" y="2395728"/>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Workshop registration &amp; feedback</a:t>
            </a:r>
          </a:p>
        </p:txBody>
      </p:sp>
      <p:sp>
        <p:nvSpPr>
          <p:cNvPr id="18" name="Rounded Rectangle 17"/>
          <p:cNvSpPr/>
          <p:nvPr/>
        </p:nvSpPr>
        <p:spPr>
          <a:xfrm>
            <a:off x="5349240" y="2962656"/>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Outcome evidence submission</a:t>
            </a:r>
          </a:p>
        </p:txBody>
      </p:sp>
      <p:sp>
        <p:nvSpPr>
          <p:cNvPr id="19" name="Rounded Rectangle 18"/>
          <p:cNvSpPr/>
          <p:nvPr/>
        </p:nvSpPr>
        <p:spPr>
          <a:xfrm>
            <a:off x="8503920" y="2962656"/>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Capital readiness checklist</a:t>
            </a:r>
          </a:p>
        </p:txBody>
      </p:sp>
      <p:sp>
        <p:nvSpPr>
          <p:cNvPr id="20" name="Rounded Rectangle 19"/>
          <p:cNvSpPr/>
          <p:nvPr/>
        </p:nvSpPr>
        <p:spPr>
          <a:xfrm>
            <a:off x="5349240" y="3529584"/>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Advisor session log</a:t>
            </a:r>
          </a:p>
        </p:txBody>
      </p:sp>
      <p:sp>
        <p:nvSpPr>
          <p:cNvPr id="21" name="Rounded Rectangle 20"/>
          <p:cNvSpPr/>
          <p:nvPr/>
        </p:nvSpPr>
        <p:spPr>
          <a:xfrm>
            <a:off x="8503920" y="3529584"/>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Partner agreement intake</a:t>
            </a:r>
          </a:p>
        </p:txBody>
      </p:sp>
      <p:sp>
        <p:nvSpPr>
          <p:cNvPr id="22" name="Rounded Rectangle 21"/>
          <p:cNvSpPr/>
          <p:nvPr/>
        </p:nvSpPr>
        <p:spPr>
          <a:xfrm>
            <a:off x="5349240" y="4096512"/>
            <a:ext cx="3017520" cy="457200"/>
          </a:xfrm>
          <a:prstGeom prst="roundRect">
            <a:avLst>
              <a:gd name="adj" fmla="val 8000"/>
            </a:avLst>
          </a:prstGeom>
          <a:solidFill>
            <a:srgbClr val="F4F7FB"/>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100" b="1">
                <a:solidFill>
                  <a:srgbClr val="0B2545"/>
                </a:solidFill>
                <a:latin typeface="Segoe UI"/>
              </a:rPr>
              <a:t>Staff onboarding acknowledgment</a:t>
            </a:r>
          </a:p>
        </p:txBody>
      </p:sp>
      <p:sp>
        <p:nvSpPr>
          <p:cNvPr id="23" name="Rounded Rectangle 22"/>
          <p:cNvSpPr/>
          <p:nvPr/>
        </p:nvSpPr>
        <p:spPr>
          <a:xfrm>
            <a:off x="548640" y="4983480"/>
            <a:ext cx="11064240" cy="128016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074920"/>
            <a:ext cx="10607040" cy="1097280"/>
          </a:xfrm>
          <a:prstGeom prst="rect">
            <a:avLst/>
          </a:prstGeom>
          <a:noFill/>
        </p:spPr>
        <p:txBody>
          <a:bodyPr wrap="square" anchor="ctr" lIns="45720" rIns="45720" tIns="27432" bIns="27432">
            <a:spAutoFit/>
          </a:bodyPr>
          <a:lstStyle/>
          <a:p>
            <a:pPr algn="l">
              <a:spcAft>
                <a:spcPts val="400"/>
              </a:spcAft>
            </a:pPr>
            <a:r>
              <a:rPr sz="1400" b="0">
                <a:solidFill>
                  <a:srgbClr val="FFFFFF"/>
                </a:solidFill>
                <a:latin typeface="Segoe UI"/>
              </a:rPr>
              <a:t>Hardening before go-live: API keys hashed and server-side, files and signatures stored outside the database,</a:t>
            </a:r>
          </a:p>
          <a:p>
            <a:pPr algn="l">
              <a:spcAft>
                <a:spcPts val="400"/>
              </a:spcAft>
            </a:pPr>
            <a:r>
              <a:rPr sz="1400" b="0">
                <a:solidFill>
                  <a:srgbClr val="FFFFFF"/>
                </a:solidFill>
                <a:latin typeface="Segoe UI"/>
              </a:rPr>
              <a:t>public submissions rate-limited and validated, and a signature audit trail (consent text, form version, content hash).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FEATURED CAPABILITY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Proposal Accelerator: faster SAM.gov responses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13</a:t>
            </a:r>
          </a:p>
        </p:txBody>
      </p:sp>
      <p:sp>
        <p:nvSpPr>
          <p:cNvPr id="9" name="Pentagon 8"/>
          <p:cNvSpPr/>
          <p:nvPr/>
        </p:nvSpPr>
        <p:spPr>
          <a:xfrm>
            <a:off x="548640" y="1554480"/>
            <a:ext cx="1953768" cy="868680"/>
          </a:xfrm>
          <a:prstGeom prst="homePlat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Match</a:t>
            </a:r>
          </a:p>
        </p:txBody>
      </p:sp>
      <p:sp>
        <p:nvSpPr>
          <p:cNvPr id="10" name="TextBox 9"/>
          <p:cNvSpPr txBox="1"/>
          <p:nvPr/>
        </p:nvSpPr>
        <p:spPr>
          <a:xfrm>
            <a:off x="594360"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AI-scored SAM.gov notices for the client's profile and set-asides</a:t>
            </a:r>
          </a:p>
        </p:txBody>
      </p:sp>
      <p:sp>
        <p:nvSpPr>
          <p:cNvPr id="11" name="Chevron 10"/>
          <p:cNvSpPr/>
          <p:nvPr/>
        </p:nvSpPr>
        <p:spPr>
          <a:xfrm>
            <a:off x="2392680" y="1554480"/>
            <a:ext cx="1953768" cy="86868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Analyze</a:t>
            </a:r>
          </a:p>
        </p:txBody>
      </p:sp>
      <p:sp>
        <p:nvSpPr>
          <p:cNvPr id="12" name="TextBox 11"/>
          <p:cNvSpPr txBox="1"/>
          <p:nvPr/>
        </p:nvSpPr>
        <p:spPr>
          <a:xfrm>
            <a:off x="2438400"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Notice and attachments parsed: dates, NAICS, factors, certifications</a:t>
            </a:r>
          </a:p>
        </p:txBody>
      </p:sp>
      <p:sp>
        <p:nvSpPr>
          <p:cNvPr id="13" name="Chevron 12"/>
          <p:cNvSpPr/>
          <p:nvPr/>
        </p:nvSpPr>
        <p:spPr>
          <a:xfrm>
            <a:off x="4236720" y="1554480"/>
            <a:ext cx="1953768"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Go / No-Go</a:t>
            </a:r>
          </a:p>
        </p:txBody>
      </p:sp>
      <p:sp>
        <p:nvSpPr>
          <p:cNvPr id="14" name="TextBox 13"/>
          <p:cNvSpPr txBox="1"/>
          <p:nvPr/>
        </p:nvSpPr>
        <p:spPr>
          <a:xfrm>
            <a:off x="4282439"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Fit score, gaps, and suggested teaming partners</a:t>
            </a:r>
          </a:p>
        </p:txBody>
      </p:sp>
      <p:sp>
        <p:nvSpPr>
          <p:cNvPr id="15" name="Chevron 14"/>
          <p:cNvSpPr/>
          <p:nvPr/>
        </p:nvSpPr>
        <p:spPr>
          <a:xfrm>
            <a:off x="6080759" y="1554480"/>
            <a:ext cx="1953768" cy="86868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Draft</a:t>
            </a:r>
          </a:p>
        </p:txBody>
      </p:sp>
      <p:sp>
        <p:nvSpPr>
          <p:cNvPr id="16" name="TextBox 15"/>
          <p:cNvSpPr txBox="1"/>
          <p:nvPr/>
        </p:nvSpPr>
        <p:spPr>
          <a:xfrm>
            <a:off x="6126479"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Compliance matrix + RFI, sources-sought, capability statement, RFP outline</a:t>
            </a:r>
          </a:p>
        </p:txBody>
      </p:sp>
      <p:sp>
        <p:nvSpPr>
          <p:cNvPr id="17" name="Chevron 16"/>
          <p:cNvSpPr/>
          <p:nvPr/>
        </p:nvSpPr>
        <p:spPr>
          <a:xfrm>
            <a:off x="7924799" y="1554480"/>
            <a:ext cx="1953768"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Review</a:t>
            </a:r>
          </a:p>
        </p:txBody>
      </p:sp>
      <p:sp>
        <p:nvSpPr>
          <p:cNvPr id="18" name="TextBox 17"/>
          <p:cNvSpPr txBox="1"/>
          <p:nvPr/>
        </p:nvSpPr>
        <p:spPr>
          <a:xfrm>
            <a:off x="7970520"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LIFT advisor reviews; client approves and submits</a:t>
            </a:r>
          </a:p>
        </p:txBody>
      </p:sp>
      <p:sp>
        <p:nvSpPr>
          <p:cNvPr id="19" name="Chevron 18"/>
          <p:cNvSpPr/>
          <p:nvPr/>
        </p:nvSpPr>
        <p:spPr>
          <a:xfrm>
            <a:off x="9768839" y="1554480"/>
            <a:ext cx="1844040" cy="86868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Award</a:t>
            </a:r>
          </a:p>
        </p:txBody>
      </p:sp>
      <p:sp>
        <p:nvSpPr>
          <p:cNvPr id="20" name="TextBox 19"/>
          <p:cNvSpPr txBox="1"/>
          <p:nvPr/>
        </p:nvSpPr>
        <p:spPr>
          <a:xfrm>
            <a:off x="9814560" y="2532888"/>
            <a:ext cx="1752599"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Award documented → verified Contract Secured</a:t>
            </a:r>
          </a:p>
        </p:txBody>
      </p:sp>
      <p:sp>
        <p:nvSpPr>
          <p:cNvPr id="21" name="Rounded Rectangle 20"/>
          <p:cNvSpPr/>
          <p:nvPr/>
        </p:nvSpPr>
        <p:spPr>
          <a:xfrm>
            <a:off x="548640" y="3931920"/>
            <a:ext cx="5440680" cy="23317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41648"/>
            <a:ext cx="64008" cy="2112263"/>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041648"/>
            <a:ext cx="512064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Built on what exists</a:t>
            </a:r>
          </a:p>
        </p:txBody>
      </p:sp>
      <p:sp>
        <p:nvSpPr>
          <p:cNvPr id="24" name="TextBox 23"/>
          <p:cNvSpPr txBox="1"/>
          <p:nvPr/>
        </p:nvSpPr>
        <p:spPr>
          <a:xfrm>
            <a:off x="749808" y="4480559"/>
            <a:ext cx="5120640" cy="1691639"/>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SAM.gov search, sync, and AI opportunity scoring (live today)</a:t>
            </a:r>
          </a:p>
          <a:p>
            <a:pPr algn="l">
              <a:spcAft>
                <a:spcPts val="600"/>
              </a:spcAft>
            </a:pPr>
            <a:r>
              <a:rPr sz="1400" b="0">
                <a:solidFill>
                  <a:srgbClr val="1F2933"/>
                </a:solidFill>
                <a:latin typeface="Segoe UI"/>
              </a:rPr>
              <a:t>•  Teaming recommendations and proposal wizard</a:t>
            </a:r>
          </a:p>
          <a:p>
            <a:pPr algn="l">
              <a:spcAft>
                <a:spcPts val="600"/>
              </a:spcAft>
            </a:pPr>
            <a:r>
              <a:rPr sz="1400" b="0">
                <a:solidFill>
                  <a:srgbClr val="1F2933"/>
                </a:solidFill>
                <a:latin typeface="Segoe UI"/>
              </a:rPr>
              <a:t>•  Replaces today's mock solicitation and bid analysis with real AI</a:t>
            </a:r>
          </a:p>
        </p:txBody>
      </p:sp>
      <p:sp>
        <p:nvSpPr>
          <p:cNvPr id="25" name="Rounded Rectangle 24"/>
          <p:cNvSpPr/>
          <p:nvPr/>
        </p:nvSpPr>
        <p:spPr>
          <a:xfrm>
            <a:off x="6172200" y="3931920"/>
            <a:ext cx="5440680" cy="23317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4041648"/>
            <a:ext cx="64008" cy="211226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4041648"/>
            <a:ext cx="512064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Guardrails and measures</a:t>
            </a:r>
          </a:p>
        </p:txBody>
      </p:sp>
      <p:sp>
        <p:nvSpPr>
          <p:cNvPr id="28" name="TextBox 27"/>
          <p:cNvSpPr txBox="1"/>
          <p:nvPr/>
        </p:nvSpPr>
        <p:spPr>
          <a:xfrm>
            <a:off x="6373368" y="4480559"/>
            <a:ext cx="5120640" cy="1691639"/>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Drafts cite only the client's verified capabilities</a:t>
            </a:r>
          </a:p>
          <a:p>
            <a:pPr algn="l">
              <a:spcAft>
                <a:spcPts val="600"/>
              </a:spcAft>
            </a:pPr>
            <a:r>
              <a:rPr sz="1400" b="0">
                <a:solidFill>
                  <a:srgbClr val="1F2933"/>
                </a:solidFill>
                <a:latin typeface="Segoe UI"/>
              </a:rPr>
              <a:t>•  No controlled (CUI) documents sent to AI; advisor review required</a:t>
            </a:r>
          </a:p>
          <a:p>
            <a:pPr algn="l">
              <a:spcAft>
                <a:spcPts val="600"/>
              </a:spcAft>
            </a:pPr>
            <a:r>
              <a:rPr sz="1400" b="0">
                <a:solidFill>
                  <a:srgbClr val="1F2933"/>
                </a:solidFill>
                <a:latin typeface="Segoe UI"/>
              </a:rPr>
              <a:t>•  Tracks responses, time-to-draft, win rate, contracts secured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ACCOUNTABILITY</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Evidence-backed metrics, ready for MBDA review</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14</a:t>
            </a:r>
          </a:p>
        </p:txBody>
      </p:sp>
      <p:sp>
        <p:nvSpPr>
          <p:cNvPr id="9" name="Pentagon 8"/>
          <p:cNvSpPr/>
          <p:nvPr/>
        </p:nvSpPr>
        <p:spPr>
          <a:xfrm>
            <a:off x="548640" y="1554480"/>
            <a:ext cx="2322576" cy="868680"/>
          </a:xfrm>
          <a:prstGeom prst="homePlat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Activity</a:t>
            </a:r>
          </a:p>
        </p:txBody>
      </p:sp>
      <p:sp>
        <p:nvSpPr>
          <p:cNvPr id="10" name="TextBox 9"/>
          <p:cNvSpPr txBox="1"/>
          <p:nvPr/>
        </p:nvSpPr>
        <p:spPr>
          <a:xfrm>
            <a:off x="594360" y="2532888"/>
            <a:ext cx="2121408"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Session, workshop, award, or form submission</a:t>
            </a:r>
          </a:p>
        </p:txBody>
      </p:sp>
      <p:sp>
        <p:nvSpPr>
          <p:cNvPr id="11" name="Chevron 10"/>
          <p:cNvSpPr/>
          <p:nvPr/>
        </p:nvSpPr>
        <p:spPr>
          <a:xfrm>
            <a:off x="2761488" y="1554480"/>
            <a:ext cx="2322576" cy="86868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Outcome claim</a:t>
            </a:r>
          </a:p>
        </p:txBody>
      </p:sp>
      <p:sp>
        <p:nvSpPr>
          <p:cNvPr id="12" name="TextBox 11"/>
          <p:cNvSpPr txBox="1"/>
          <p:nvPr/>
        </p:nvSpPr>
        <p:spPr>
          <a:xfrm>
            <a:off x="2807208" y="2532888"/>
            <a:ext cx="2121408"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Value, date, and attribution recorded</a:t>
            </a:r>
          </a:p>
        </p:txBody>
      </p:sp>
      <p:sp>
        <p:nvSpPr>
          <p:cNvPr id="13" name="Chevron 12"/>
          <p:cNvSpPr/>
          <p:nvPr/>
        </p:nvSpPr>
        <p:spPr>
          <a:xfrm>
            <a:off x="4974336" y="1554480"/>
            <a:ext cx="2322576"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Evidence</a:t>
            </a:r>
          </a:p>
        </p:txBody>
      </p:sp>
      <p:sp>
        <p:nvSpPr>
          <p:cNvPr id="14" name="TextBox 13"/>
          <p:cNvSpPr txBox="1"/>
          <p:nvPr/>
        </p:nvSpPr>
        <p:spPr>
          <a:xfrm>
            <a:off x="5020055" y="2532888"/>
            <a:ext cx="2121408"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Registration, closing letter, payroll, contract</a:t>
            </a:r>
          </a:p>
        </p:txBody>
      </p:sp>
      <p:sp>
        <p:nvSpPr>
          <p:cNvPr id="15" name="Chevron 14"/>
          <p:cNvSpPr/>
          <p:nvPr/>
        </p:nvSpPr>
        <p:spPr>
          <a:xfrm>
            <a:off x="7187183" y="1554480"/>
            <a:ext cx="2322576" cy="868680"/>
          </a:xfrm>
          <a:prstGeom prst="chevron">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Verification</a:t>
            </a:r>
          </a:p>
        </p:txBody>
      </p:sp>
      <p:sp>
        <p:nvSpPr>
          <p:cNvPr id="16" name="TextBox 15"/>
          <p:cNvSpPr txBox="1"/>
          <p:nvPr/>
        </p:nvSpPr>
        <p:spPr>
          <a:xfrm>
            <a:off x="7232903" y="2532888"/>
            <a:ext cx="2121408"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Second-person staff approval</a:t>
            </a:r>
          </a:p>
        </p:txBody>
      </p:sp>
      <p:sp>
        <p:nvSpPr>
          <p:cNvPr id="17" name="Chevron 16"/>
          <p:cNvSpPr/>
          <p:nvPr/>
        </p:nvSpPr>
        <p:spPr>
          <a:xfrm>
            <a:off x="9400032" y="1554480"/>
            <a:ext cx="2212848"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sz="1200" b="1">
                <a:solidFill>
                  <a:srgbClr val="FFFFFF"/>
                </a:solidFill>
                <a:latin typeface="Segoe UI"/>
              </a:rPr>
              <a:t>Metric</a:t>
            </a:r>
          </a:p>
        </p:txBody>
      </p:sp>
      <p:sp>
        <p:nvSpPr>
          <p:cNvPr id="18" name="TextBox 17"/>
          <p:cNvSpPr txBox="1"/>
          <p:nvPr/>
        </p:nvSpPr>
        <p:spPr>
          <a:xfrm>
            <a:off x="9445752" y="2532888"/>
            <a:ext cx="2121408" cy="1188720"/>
          </a:xfrm>
          <a:prstGeom prst="rect">
            <a:avLst/>
          </a:prstGeom>
          <a:noFill/>
        </p:spPr>
        <p:txBody>
          <a:bodyPr wrap="square" anchor="t" lIns="45720" rIns="45720" tIns="27432" bIns="27432">
            <a:spAutoFit/>
          </a:bodyPr>
          <a:lstStyle/>
          <a:p>
            <a:pPr algn="ctr">
              <a:spcAft>
                <a:spcPts val="400"/>
              </a:spcAft>
            </a:pPr>
            <a:r>
              <a:rPr sz="1200" b="0">
                <a:solidFill>
                  <a:srgbClr val="1F2933"/>
                </a:solidFill>
                <a:latin typeface="Segoe UI"/>
              </a:rPr>
              <a:t>Counted for the measure and period</a:t>
            </a:r>
          </a:p>
        </p:txBody>
      </p:sp>
      <p:sp>
        <p:nvSpPr>
          <p:cNvPr id="19" name="Rounded Rectangle 18"/>
          <p:cNvSpPr/>
          <p:nvPr/>
        </p:nvSpPr>
        <p:spPr>
          <a:xfrm>
            <a:off x="548640" y="3886200"/>
            <a:ext cx="3566160" cy="237744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995928"/>
            <a:ext cx="64008" cy="215798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399592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Configurable targets</a:t>
            </a:r>
          </a:p>
        </p:txBody>
      </p:sp>
      <p:sp>
        <p:nvSpPr>
          <p:cNvPr id="22" name="TextBox 21"/>
          <p:cNvSpPr txBox="1"/>
          <p:nvPr/>
        </p:nvSpPr>
        <p:spPr>
          <a:xfrm>
            <a:off x="749808" y="4434840"/>
            <a:ext cx="3246120" cy="17373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Targets by year and quarter are admin-editable and versioned, with approval, because source documents differ.</a:t>
            </a:r>
          </a:p>
        </p:txBody>
      </p:sp>
      <p:sp>
        <p:nvSpPr>
          <p:cNvPr id="23" name="Rounded Rectangle 22"/>
          <p:cNvSpPr/>
          <p:nvPr/>
        </p:nvSpPr>
        <p:spPr>
          <a:xfrm>
            <a:off x="4297680" y="3886200"/>
            <a:ext cx="3566160" cy="237744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3995928"/>
            <a:ext cx="64008" cy="21579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98848" y="399592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Reports on schedule</a:t>
            </a:r>
          </a:p>
        </p:txBody>
      </p:sp>
      <p:sp>
        <p:nvSpPr>
          <p:cNvPr id="26" name="TextBox 25"/>
          <p:cNvSpPr txBox="1"/>
          <p:nvPr/>
        </p:nvSpPr>
        <p:spPr>
          <a:xfrm>
            <a:off x="4498848" y="4434840"/>
            <a:ext cx="3246120" cy="17373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Real-time dashboard, monthly internal report, quarterly invoice support, semi-annual MBDA pack, annual report.</a:t>
            </a:r>
          </a:p>
        </p:txBody>
      </p:sp>
      <p:sp>
        <p:nvSpPr>
          <p:cNvPr id="27" name="Rounded Rectangle 26"/>
          <p:cNvSpPr/>
          <p:nvPr/>
        </p:nvSpPr>
        <p:spPr>
          <a:xfrm>
            <a:off x="8046720" y="3886200"/>
            <a:ext cx="3566160" cy="237744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995928"/>
            <a:ext cx="64008" cy="215798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3995928"/>
            <a:ext cx="324612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Audit-ready</a:t>
            </a:r>
          </a:p>
        </p:txBody>
      </p:sp>
      <p:sp>
        <p:nvSpPr>
          <p:cNvPr id="30" name="TextBox 29"/>
          <p:cNvSpPr txBox="1"/>
          <p:nvPr/>
        </p:nvSpPr>
        <p:spPr>
          <a:xfrm>
            <a:off x="8247888" y="4434840"/>
            <a:ext cx="3246120" cy="17373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Reproducible snapshots with hashes; records retained per 2 CFR 200; export adapter for MBDA's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IMPLEMENTATION PLAN</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Phased roadmap tied to pilot, launch, and invoices</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15</a:t>
            </a:r>
          </a:p>
        </p:txBody>
      </p:sp>
      <p:sp>
        <p:nvSpPr>
          <p:cNvPr id="9" name="Rectangle 8"/>
          <p:cNvSpPr/>
          <p:nvPr/>
        </p:nvSpPr>
        <p:spPr>
          <a:xfrm>
            <a:off x="548640" y="2148840"/>
            <a:ext cx="11064240" cy="73152"/>
          </a:xfrm>
          <a:prstGeom prst="rect">
            <a:avLst/>
          </a:prstGeom>
          <a:solidFill>
            <a:srgbClr val="D6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37360" y="1984248"/>
            <a:ext cx="384048" cy="384048"/>
          </a:xfrm>
          <a:prstGeom prst="ellipse">
            <a:avLst/>
          </a:prstGeom>
          <a:solidFill>
            <a:srgbClr val="C9A227"/>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17320"/>
            <a:ext cx="2651760" cy="274320"/>
          </a:xfrm>
          <a:prstGeom prst="rect">
            <a:avLst/>
          </a:prstGeom>
          <a:noFill/>
        </p:spPr>
        <p:txBody>
          <a:bodyPr wrap="square" anchor="t" lIns="45720" rIns="45720" tIns="27432" bIns="27432">
            <a:spAutoFit/>
          </a:bodyPr>
          <a:lstStyle/>
          <a:p>
            <a:pPr algn="ctr">
              <a:spcAft>
                <a:spcPts val="400"/>
              </a:spcAft>
            </a:pPr>
            <a:r>
              <a:rPr sz="1100" b="1">
                <a:solidFill>
                  <a:srgbClr val="C9A227"/>
                </a:solidFill>
                <a:latin typeface="Segoe UI"/>
              </a:rPr>
              <a:t>PHASE 0</a:t>
            </a:r>
          </a:p>
        </p:txBody>
      </p:sp>
      <p:sp>
        <p:nvSpPr>
          <p:cNvPr id="12" name="TextBox 11"/>
          <p:cNvSpPr txBox="1"/>
          <p:nvPr/>
        </p:nvSpPr>
        <p:spPr>
          <a:xfrm>
            <a:off x="548640" y="1645920"/>
            <a:ext cx="2651760" cy="274320"/>
          </a:xfrm>
          <a:prstGeom prst="rect">
            <a:avLst/>
          </a:prstGeom>
          <a:noFill/>
        </p:spPr>
        <p:txBody>
          <a:bodyPr wrap="square" anchor="t" lIns="45720" rIns="45720" tIns="27432" bIns="27432">
            <a:spAutoFit/>
          </a:bodyPr>
          <a:lstStyle/>
          <a:p>
            <a:pPr algn="ctr">
              <a:spcAft>
                <a:spcPts val="400"/>
              </a:spcAft>
            </a:pPr>
            <a:r>
              <a:rPr sz="1050" b="0">
                <a:solidFill>
                  <a:srgbClr val="5F6B7A"/>
                </a:solidFill>
                <a:latin typeface="Segoe UI"/>
              </a:rPr>
              <a:t>Now → Nov 10</a:t>
            </a:r>
          </a:p>
        </p:txBody>
      </p:sp>
      <p:sp>
        <p:nvSpPr>
          <p:cNvPr id="13" name="Rounded Rectangle 12"/>
          <p:cNvSpPr/>
          <p:nvPr/>
        </p:nvSpPr>
        <p:spPr>
          <a:xfrm>
            <a:off x="548640" y="2560320"/>
            <a:ext cx="2651760" cy="3703320"/>
          </a:xfrm>
          <a:prstGeom prst="roundRect">
            <a:avLst>
              <a:gd name="adj" fmla="val 8000"/>
            </a:avLst>
          </a:prstGeom>
          <a:solidFill>
            <a:srgbClr val="0B2545"/>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670048"/>
            <a:ext cx="2377440" cy="411480"/>
          </a:xfrm>
          <a:prstGeom prst="rect">
            <a:avLst/>
          </a:prstGeom>
          <a:noFill/>
        </p:spPr>
        <p:txBody>
          <a:bodyPr wrap="square" anchor="t" lIns="45720" rIns="45720" tIns="27432" bIns="27432">
            <a:spAutoFit/>
          </a:bodyPr>
          <a:lstStyle/>
          <a:p>
            <a:pPr algn="l">
              <a:spcAft>
                <a:spcPts val="400"/>
              </a:spcAft>
            </a:pPr>
            <a:r>
              <a:rPr sz="1500" b="1">
                <a:solidFill>
                  <a:srgbClr val="FFFFFF"/>
                </a:solidFill>
                <a:latin typeface="Segoe UI"/>
              </a:rPr>
              <a:t>Pilot readiness</a:t>
            </a:r>
          </a:p>
        </p:txBody>
      </p:sp>
      <p:sp>
        <p:nvSpPr>
          <p:cNvPr id="15" name="TextBox 14"/>
          <p:cNvSpPr txBox="1"/>
          <p:nvPr/>
        </p:nvSpPr>
        <p:spPr>
          <a:xfrm>
            <a:off x="713232" y="3154680"/>
            <a:ext cx="2377440" cy="3017520"/>
          </a:xfrm>
          <a:prstGeom prst="rect">
            <a:avLst/>
          </a:prstGeom>
          <a:noFill/>
        </p:spPr>
        <p:txBody>
          <a:bodyPr wrap="square" anchor="t" lIns="45720" rIns="45720" tIns="27432" bIns="27432">
            <a:spAutoFit/>
          </a:bodyPr>
          <a:lstStyle/>
          <a:p>
            <a:pPr algn="l">
              <a:spcAft>
                <a:spcPts val="800"/>
              </a:spcAft>
            </a:pPr>
            <a:r>
              <a:rPr sz="1300" b="0">
                <a:solidFill>
                  <a:srgbClr val="FFFFFF"/>
                </a:solidFill>
                <a:latin typeface="Segoe UI"/>
              </a:rPr>
              <a:t>•  Separate LIFT site with MBDA branding</a:t>
            </a:r>
          </a:p>
          <a:p>
            <a:pPr algn="l">
              <a:spcAft>
                <a:spcPts val="800"/>
              </a:spcAft>
            </a:pPr>
            <a:r>
              <a:rPr sz="1300" b="0">
                <a:solidFill>
                  <a:srgbClr val="FFFFFF"/>
                </a:solidFill>
                <a:latin typeface="Segoe UI"/>
              </a:rPr>
              <a:t>•  Signed intake &amp; consent form</a:t>
            </a:r>
          </a:p>
          <a:p>
            <a:pPr algn="l">
              <a:spcAft>
                <a:spcPts val="800"/>
              </a:spcAft>
            </a:pPr>
            <a:r>
              <a:rPr sz="1300" b="0">
                <a:solidFill>
                  <a:srgbClr val="FFFFFF"/>
                </a:solidFill>
                <a:latin typeface="Segoe UI"/>
              </a:rPr>
              <a:t>•  Basic client record + rural rule</a:t>
            </a:r>
          </a:p>
          <a:p>
            <a:pPr algn="l">
              <a:spcAft>
                <a:spcPts val="800"/>
              </a:spcAft>
            </a:pPr>
            <a:r>
              <a:rPr sz="1300" b="0">
                <a:solidFill>
                  <a:srgbClr val="FFFFFF"/>
                </a:solidFill>
                <a:latin typeface="Segoe UI"/>
              </a:rPr>
              <a:t>•  Rebranded webinar archive</a:t>
            </a:r>
          </a:p>
          <a:p>
            <a:pPr algn="l">
              <a:spcAft>
                <a:spcPts val="800"/>
              </a:spcAft>
            </a:pPr>
            <a:r>
              <a:rPr sz="1300" b="0">
                <a:solidFill>
                  <a:srgbClr val="FFFFFF"/>
                </a:solidFill>
                <a:latin typeface="Segoe UI"/>
              </a:rPr>
              <a:t>•  Pilot invitations (10–20 companies)</a:t>
            </a:r>
          </a:p>
        </p:txBody>
      </p:sp>
      <p:sp>
        <p:nvSpPr>
          <p:cNvPr id="16" name="Oval 15"/>
          <p:cNvSpPr/>
          <p:nvPr/>
        </p:nvSpPr>
        <p:spPr>
          <a:xfrm>
            <a:off x="4544568" y="1984248"/>
            <a:ext cx="384048" cy="384048"/>
          </a:xfrm>
          <a:prstGeom prst="ellipse">
            <a:avLst/>
          </a:prstGeom>
          <a:solidFill>
            <a:srgbClr val="0B2545"/>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5848" y="1417320"/>
            <a:ext cx="2651760" cy="274320"/>
          </a:xfrm>
          <a:prstGeom prst="rect">
            <a:avLst/>
          </a:prstGeom>
          <a:noFill/>
        </p:spPr>
        <p:txBody>
          <a:bodyPr wrap="square" anchor="t" lIns="45720" rIns="45720" tIns="27432" bIns="27432">
            <a:spAutoFit/>
          </a:bodyPr>
          <a:lstStyle/>
          <a:p>
            <a:pPr algn="ctr">
              <a:spcAft>
                <a:spcPts val="400"/>
              </a:spcAft>
            </a:pPr>
            <a:r>
              <a:rPr sz="1100" b="1">
                <a:solidFill>
                  <a:srgbClr val="C9A227"/>
                </a:solidFill>
                <a:latin typeface="Segoe UI"/>
              </a:rPr>
              <a:t>PHASE 1</a:t>
            </a:r>
          </a:p>
        </p:txBody>
      </p:sp>
      <p:sp>
        <p:nvSpPr>
          <p:cNvPr id="18" name="TextBox 17"/>
          <p:cNvSpPr txBox="1"/>
          <p:nvPr/>
        </p:nvSpPr>
        <p:spPr>
          <a:xfrm>
            <a:off x="3355848" y="1645920"/>
            <a:ext cx="2651760" cy="274320"/>
          </a:xfrm>
          <a:prstGeom prst="rect">
            <a:avLst/>
          </a:prstGeom>
          <a:noFill/>
        </p:spPr>
        <p:txBody>
          <a:bodyPr wrap="square" anchor="t" lIns="45720" rIns="45720" tIns="27432" bIns="27432">
            <a:spAutoFit/>
          </a:bodyPr>
          <a:lstStyle/>
          <a:p>
            <a:pPr algn="ctr">
              <a:spcAft>
                <a:spcPts val="400"/>
              </a:spcAft>
            </a:pPr>
            <a:r>
              <a:rPr sz="1050" b="0">
                <a:solidFill>
                  <a:srgbClr val="5F6B7A"/>
                </a:solidFill>
                <a:latin typeface="Segoe UI"/>
              </a:rPr>
              <a:t>→ ~Nov 19 ribbon cutting</a:t>
            </a:r>
          </a:p>
        </p:txBody>
      </p:sp>
      <p:sp>
        <p:nvSpPr>
          <p:cNvPr id="19" name="Rounded Rectangle 18"/>
          <p:cNvSpPr/>
          <p:nvPr/>
        </p:nvSpPr>
        <p:spPr>
          <a:xfrm>
            <a:off x="3355848" y="2560320"/>
            <a:ext cx="2651760" cy="37033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0440" y="2670048"/>
            <a:ext cx="2377440" cy="411480"/>
          </a:xfrm>
          <a:prstGeom prst="rect">
            <a:avLst/>
          </a:prstGeom>
          <a:noFill/>
        </p:spPr>
        <p:txBody>
          <a:bodyPr wrap="square" anchor="t" lIns="45720" rIns="45720" tIns="27432" bIns="27432">
            <a:spAutoFit/>
          </a:bodyPr>
          <a:lstStyle/>
          <a:p>
            <a:pPr algn="l">
              <a:spcAft>
                <a:spcPts val="400"/>
              </a:spcAft>
            </a:pPr>
            <a:r>
              <a:rPr sz="1500" b="1">
                <a:solidFill>
                  <a:srgbClr val="0B2545"/>
                </a:solidFill>
                <a:latin typeface="Segoe UI"/>
              </a:rPr>
              <a:t>Public launch</a:t>
            </a:r>
          </a:p>
        </p:txBody>
      </p:sp>
      <p:sp>
        <p:nvSpPr>
          <p:cNvPr id="21" name="TextBox 20"/>
          <p:cNvSpPr txBox="1"/>
          <p:nvPr/>
        </p:nvSpPr>
        <p:spPr>
          <a:xfrm>
            <a:off x="3520440" y="3154680"/>
            <a:ext cx="2377440" cy="3017520"/>
          </a:xfrm>
          <a:prstGeom prst="rect">
            <a:avLst/>
          </a:prstGeom>
          <a:noFill/>
        </p:spPr>
        <p:txBody>
          <a:bodyPr wrap="square" anchor="t" lIns="45720" rIns="45720" tIns="27432" bIns="27432">
            <a:spAutoFit/>
          </a:bodyPr>
          <a:lstStyle/>
          <a:p>
            <a:pPr algn="l">
              <a:spcAft>
                <a:spcPts val="800"/>
              </a:spcAft>
            </a:pPr>
            <a:r>
              <a:rPr sz="1300" b="0">
                <a:solidFill>
                  <a:srgbClr val="1F2933"/>
                </a:solidFill>
                <a:latin typeface="Segoe UI"/>
              </a:rPr>
              <a:t>•  AI Intake Interview</a:t>
            </a:r>
          </a:p>
          <a:p>
            <a:pPr algn="l">
              <a:spcAft>
                <a:spcPts val="800"/>
              </a:spcAft>
            </a:pPr>
            <a:r>
              <a:rPr sz="1300" b="0">
                <a:solidFill>
                  <a:srgbClr val="1F2933"/>
                </a:solidFill>
                <a:latin typeface="Segoe UI"/>
              </a:rPr>
              <a:t>•  Lifecycle stages and sessions</a:t>
            </a:r>
          </a:p>
          <a:p>
            <a:pPr algn="l">
              <a:spcAft>
                <a:spcPts val="800"/>
              </a:spcAft>
            </a:pPr>
            <a:r>
              <a:rPr sz="1300" b="0">
                <a:solidFill>
                  <a:srgbClr val="1F2933"/>
                </a:solidFill>
                <a:latin typeface="Segoe UI"/>
              </a:rPr>
              <a:t>•  Partner referral routing</a:t>
            </a:r>
          </a:p>
          <a:p>
            <a:pPr algn="l">
              <a:spcAft>
                <a:spcPts val="800"/>
              </a:spcAft>
            </a:pPr>
            <a:r>
              <a:rPr sz="1300" b="0">
                <a:solidFill>
                  <a:srgbClr val="1F2933"/>
                </a:solidFill>
                <a:latin typeface="Segoe UI"/>
              </a:rPr>
              <a:t>•  Partner agreement tracker</a:t>
            </a:r>
          </a:p>
          <a:p>
            <a:pPr algn="l">
              <a:spcAft>
                <a:spcPts val="800"/>
              </a:spcAft>
            </a:pPr>
            <a:r>
              <a:rPr sz="1300" b="0">
                <a:solidFill>
                  <a:srgbClr val="1F2933"/>
                </a:solidFill>
                <a:latin typeface="Segoe UI"/>
              </a:rPr>
              <a:t>•  AI assistant (status queries)</a:t>
            </a:r>
          </a:p>
        </p:txBody>
      </p:sp>
      <p:sp>
        <p:nvSpPr>
          <p:cNvPr id="22" name="Oval 21"/>
          <p:cNvSpPr/>
          <p:nvPr/>
        </p:nvSpPr>
        <p:spPr>
          <a:xfrm>
            <a:off x="7351775" y="1984248"/>
            <a:ext cx="384048" cy="384048"/>
          </a:xfrm>
          <a:prstGeom prst="ellipse">
            <a:avLst/>
          </a:prstGeom>
          <a:solidFill>
            <a:srgbClr val="0B2545"/>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63055" y="1417320"/>
            <a:ext cx="2651760" cy="274320"/>
          </a:xfrm>
          <a:prstGeom prst="rect">
            <a:avLst/>
          </a:prstGeom>
          <a:noFill/>
        </p:spPr>
        <p:txBody>
          <a:bodyPr wrap="square" anchor="t" lIns="45720" rIns="45720" tIns="27432" bIns="27432">
            <a:spAutoFit/>
          </a:bodyPr>
          <a:lstStyle/>
          <a:p>
            <a:pPr algn="ctr">
              <a:spcAft>
                <a:spcPts val="400"/>
              </a:spcAft>
            </a:pPr>
            <a:r>
              <a:rPr sz="1100" b="1">
                <a:solidFill>
                  <a:srgbClr val="C9A227"/>
                </a:solidFill>
                <a:latin typeface="Segoe UI"/>
              </a:rPr>
              <a:t>PHASE 2</a:t>
            </a:r>
          </a:p>
        </p:txBody>
      </p:sp>
      <p:sp>
        <p:nvSpPr>
          <p:cNvPr id="24" name="TextBox 23"/>
          <p:cNvSpPr txBox="1"/>
          <p:nvPr/>
        </p:nvSpPr>
        <p:spPr>
          <a:xfrm>
            <a:off x="6163055" y="1645920"/>
            <a:ext cx="2651760" cy="274320"/>
          </a:xfrm>
          <a:prstGeom prst="rect">
            <a:avLst/>
          </a:prstGeom>
          <a:noFill/>
        </p:spPr>
        <p:txBody>
          <a:bodyPr wrap="square" anchor="t" lIns="45720" rIns="45720" tIns="27432" bIns="27432">
            <a:spAutoFit/>
          </a:bodyPr>
          <a:lstStyle/>
          <a:p>
            <a:pPr algn="ctr">
              <a:spcAft>
                <a:spcPts val="400"/>
              </a:spcAft>
            </a:pPr>
            <a:r>
              <a:rPr sz="1050" b="0">
                <a:solidFill>
                  <a:srgbClr val="5F6B7A"/>
                </a:solidFill>
                <a:latin typeface="Segoe UI"/>
              </a:rPr>
              <a:t>Months 4–6</a:t>
            </a:r>
          </a:p>
        </p:txBody>
      </p:sp>
      <p:sp>
        <p:nvSpPr>
          <p:cNvPr id="25" name="Rounded Rectangle 24"/>
          <p:cNvSpPr/>
          <p:nvPr/>
        </p:nvSpPr>
        <p:spPr>
          <a:xfrm>
            <a:off x="6163055" y="2560320"/>
            <a:ext cx="2651760" cy="37033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7" y="2670048"/>
            <a:ext cx="2377440" cy="411480"/>
          </a:xfrm>
          <a:prstGeom prst="rect">
            <a:avLst/>
          </a:prstGeom>
          <a:noFill/>
        </p:spPr>
        <p:txBody>
          <a:bodyPr wrap="square" anchor="t" lIns="45720" rIns="45720" tIns="27432" bIns="27432">
            <a:spAutoFit/>
          </a:bodyPr>
          <a:lstStyle/>
          <a:p>
            <a:pPr algn="l">
              <a:spcAft>
                <a:spcPts val="400"/>
              </a:spcAft>
            </a:pPr>
            <a:r>
              <a:rPr sz="1500" b="1">
                <a:solidFill>
                  <a:srgbClr val="0B2545"/>
                </a:solidFill>
                <a:latin typeface="Segoe UI"/>
              </a:rPr>
              <a:t>Q2 operations</a:t>
            </a:r>
          </a:p>
        </p:txBody>
      </p:sp>
      <p:sp>
        <p:nvSpPr>
          <p:cNvPr id="27" name="TextBox 26"/>
          <p:cNvSpPr txBox="1"/>
          <p:nvPr/>
        </p:nvSpPr>
        <p:spPr>
          <a:xfrm>
            <a:off x="6327647" y="3154680"/>
            <a:ext cx="2377440" cy="3017520"/>
          </a:xfrm>
          <a:prstGeom prst="rect">
            <a:avLst/>
          </a:prstGeom>
          <a:noFill/>
        </p:spPr>
        <p:txBody>
          <a:bodyPr wrap="square" anchor="t" lIns="45720" rIns="45720" tIns="27432" bIns="27432">
            <a:spAutoFit/>
          </a:bodyPr>
          <a:lstStyle/>
          <a:p>
            <a:pPr algn="l">
              <a:spcAft>
                <a:spcPts val="800"/>
              </a:spcAft>
            </a:pPr>
            <a:r>
              <a:rPr sz="1300" b="0">
                <a:solidFill>
                  <a:srgbClr val="1F2933"/>
                </a:solidFill>
                <a:latin typeface="Segoe UI"/>
              </a:rPr>
              <a:t>•  Capital readiness</a:t>
            </a:r>
          </a:p>
          <a:p>
            <a:pPr algn="l">
              <a:spcAft>
                <a:spcPts val="800"/>
              </a:spcAft>
            </a:pPr>
            <a:r>
              <a:rPr sz="1300" b="0">
                <a:solidFill>
                  <a:srgbClr val="1F2933"/>
                </a:solidFill>
                <a:latin typeface="Segoe UI"/>
              </a:rPr>
              <a:t>•  Proposal Accelerator</a:t>
            </a:r>
          </a:p>
          <a:p>
            <a:pPr algn="l">
              <a:spcAft>
                <a:spcPts val="800"/>
              </a:spcAft>
            </a:pPr>
            <a:r>
              <a:rPr sz="1300" b="0">
                <a:solidFill>
                  <a:srgbClr val="1F2933"/>
                </a:solidFill>
                <a:latin typeface="Segoe UI"/>
              </a:rPr>
              <a:t>•  Evidence vault and verification</a:t>
            </a:r>
          </a:p>
          <a:p>
            <a:pPr algn="l">
              <a:spcAft>
                <a:spcPts val="800"/>
              </a:spcAft>
            </a:pPr>
            <a:r>
              <a:rPr sz="1300" b="0">
                <a:solidFill>
                  <a:srgbClr val="1F2933"/>
                </a:solidFill>
                <a:latin typeface="Segoe UI"/>
              </a:rPr>
              <a:t>•  Metrics &amp; MBDA reporting</a:t>
            </a:r>
          </a:p>
          <a:p>
            <a:pPr algn="l">
              <a:spcAft>
                <a:spcPts val="800"/>
              </a:spcAft>
            </a:pPr>
            <a:r>
              <a:rPr sz="1300" b="0">
                <a:solidFill>
                  <a:srgbClr val="1F2933"/>
                </a:solidFill>
                <a:latin typeface="Segoe UI"/>
              </a:rPr>
              <a:t>•  Grant &amp; invoice tracker</a:t>
            </a:r>
          </a:p>
        </p:txBody>
      </p:sp>
      <p:sp>
        <p:nvSpPr>
          <p:cNvPr id="28" name="Oval 27"/>
          <p:cNvSpPr/>
          <p:nvPr/>
        </p:nvSpPr>
        <p:spPr>
          <a:xfrm>
            <a:off x="10158984" y="1984248"/>
            <a:ext cx="384048" cy="384048"/>
          </a:xfrm>
          <a:prstGeom prst="ellipse">
            <a:avLst/>
          </a:prstGeom>
          <a:solidFill>
            <a:srgbClr val="0B2545"/>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70263" y="1417320"/>
            <a:ext cx="2651760" cy="274320"/>
          </a:xfrm>
          <a:prstGeom prst="rect">
            <a:avLst/>
          </a:prstGeom>
          <a:noFill/>
        </p:spPr>
        <p:txBody>
          <a:bodyPr wrap="square" anchor="t" lIns="45720" rIns="45720" tIns="27432" bIns="27432">
            <a:spAutoFit/>
          </a:bodyPr>
          <a:lstStyle/>
          <a:p>
            <a:pPr algn="ctr">
              <a:spcAft>
                <a:spcPts val="400"/>
              </a:spcAft>
            </a:pPr>
            <a:r>
              <a:rPr sz="1100" b="1">
                <a:solidFill>
                  <a:srgbClr val="C9A227"/>
                </a:solidFill>
                <a:latin typeface="Segoe UI"/>
              </a:rPr>
              <a:t>PHASE 3</a:t>
            </a:r>
          </a:p>
        </p:txBody>
      </p:sp>
      <p:sp>
        <p:nvSpPr>
          <p:cNvPr id="30" name="TextBox 29"/>
          <p:cNvSpPr txBox="1"/>
          <p:nvPr/>
        </p:nvSpPr>
        <p:spPr>
          <a:xfrm>
            <a:off x="8970263" y="1645920"/>
            <a:ext cx="2651760" cy="274320"/>
          </a:xfrm>
          <a:prstGeom prst="rect">
            <a:avLst/>
          </a:prstGeom>
          <a:noFill/>
        </p:spPr>
        <p:txBody>
          <a:bodyPr wrap="square" anchor="t" lIns="45720" rIns="45720" tIns="27432" bIns="27432">
            <a:spAutoFit/>
          </a:bodyPr>
          <a:lstStyle/>
          <a:p>
            <a:pPr algn="ctr">
              <a:spcAft>
                <a:spcPts val="400"/>
              </a:spcAft>
            </a:pPr>
            <a:r>
              <a:rPr sz="1050" b="0">
                <a:solidFill>
                  <a:srgbClr val="5F6B7A"/>
                </a:solidFill>
                <a:latin typeface="Segoe UI"/>
              </a:rPr>
              <a:t>Months 7+</a:t>
            </a:r>
          </a:p>
        </p:txBody>
      </p:sp>
      <p:sp>
        <p:nvSpPr>
          <p:cNvPr id="31" name="Rounded Rectangle 30"/>
          <p:cNvSpPr/>
          <p:nvPr/>
        </p:nvSpPr>
        <p:spPr>
          <a:xfrm>
            <a:off x="8970263" y="2560320"/>
            <a:ext cx="2651760" cy="370332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34855" y="2670048"/>
            <a:ext cx="2377440" cy="411480"/>
          </a:xfrm>
          <a:prstGeom prst="rect">
            <a:avLst/>
          </a:prstGeom>
          <a:noFill/>
        </p:spPr>
        <p:txBody>
          <a:bodyPr wrap="square" anchor="t" lIns="45720" rIns="45720" tIns="27432" bIns="27432">
            <a:spAutoFit/>
          </a:bodyPr>
          <a:lstStyle/>
          <a:p>
            <a:pPr algn="l">
              <a:spcAft>
                <a:spcPts val="400"/>
              </a:spcAft>
            </a:pPr>
            <a:r>
              <a:rPr sz="1500" b="1">
                <a:solidFill>
                  <a:srgbClr val="0B2545"/>
                </a:solidFill>
                <a:latin typeface="Segoe UI"/>
              </a:rPr>
              <a:t>Optimization</a:t>
            </a:r>
          </a:p>
        </p:txBody>
      </p:sp>
      <p:sp>
        <p:nvSpPr>
          <p:cNvPr id="33" name="TextBox 32"/>
          <p:cNvSpPr txBox="1"/>
          <p:nvPr/>
        </p:nvSpPr>
        <p:spPr>
          <a:xfrm>
            <a:off x="9134855" y="3154680"/>
            <a:ext cx="2377440" cy="3017520"/>
          </a:xfrm>
          <a:prstGeom prst="rect">
            <a:avLst/>
          </a:prstGeom>
          <a:noFill/>
        </p:spPr>
        <p:txBody>
          <a:bodyPr wrap="square" anchor="t" lIns="45720" rIns="45720" tIns="27432" bIns="27432">
            <a:spAutoFit/>
          </a:bodyPr>
          <a:lstStyle/>
          <a:p>
            <a:pPr algn="l">
              <a:spcAft>
                <a:spcPts val="800"/>
              </a:spcAft>
            </a:pPr>
            <a:r>
              <a:rPr sz="1300" b="0">
                <a:solidFill>
                  <a:srgbClr val="1F2933"/>
                </a:solidFill>
                <a:latin typeface="Segoe UI"/>
              </a:rPr>
              <a:t>•  Feedback and impact stories</a:t>
            </a:r>
          </a:p>
          <a:p>
            <a:pPr algn="l">
              <a:spcAft>
                <a:spcPts val="800"/>
              </a:spcAft>
            </a:pPr>
            <a:r>
              <a:rPr sz="1300" b="0">
                <a:solidFill>
                  <a:srgbClr val="1F2933"/>
                </a:solidFill>
                <a:latin typeface="Segoe UI"/>
              </a:rPr>
              <a:t>•  Off-track alerts and briefings</a:t>
            </a:r>
          </a:p>
          <a:p>
            <a:pPr algn="l">
              <a:spcAft>
                <a:spcPts val="800"/>
              </a:spcAft>
            </a:pPr>
            <a:r>
              <a:rPr sz="1300" b="0">
                <a:solidFill>
                  <a:srgbClr val="1F2933"/>
                </a:solidFill>
                <a:latin typeface="Segoe UI"/>
              </a:rPr>
              <a:t>•  Enhancements from pilot learning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GOVERNANCE &amp; COMPLIANCE</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Built for federal accountability and client trust</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16</a:t>
            </a:r>
          </a:p>
        </p:txBody>
      </p:sp>
      <p:graphicFrame>
        <p:nvGraphicFramePr>
          <p:cNvPr id="9" name="Table 8"/>
          <p:cNvGraphicFramePr>
            <a:graphicFrameLocks noGrp="1"/>
          </p:cNvGraphicFramePr>
          <p:nvPr/>
        </p:nvGraphicFramePr>
        <p:xfrm>
          <a:off x="548640" y="1463040"/>
          <a:ext cx="5760720" cy="3803904"/>
        </p:xfrm>
        <a:graphic>
          <a:graphicData uri="http://schemas.openxmlformats.org/drawingml/2006/table">
            <a:tbl>
              <a:tblPr firstRow="1" bandRow="1">
                <a:tableStyleId>{5C22544A-7EE6-4342-B048-85BDC9FD1C3A}</a:tableStyleId>
              </a:tblPr>
              <a:tblGrid>
                <a:gridCol w="2743200"/>
                <a:gridCol w="3017520"/>
              </a:tblGrid>
              <a:tr h="475488">
                <a:tc>
                  <a:txBody>
                    <a:bodyPr wrap="square"/>
                    <a:lstStyle/>
                    <a:p>
                      <a:r>
                        <a:rPr sz="1100" b="1">
                          <a:solidFill>
                            <a:srgbClr val="FFFFFF"/>
                          </a:solidFill>
                          <a:latin typeface="Segoe UI"/>
                        </a:rPr>
                        <a:t>Role</a:t>
                      </a:r>
                    </a:p>
                  </a:txBody>
                  <a:tcPr marL="73152" marR="73152" marT="36576" marB="36576" anchor="ctr">
                    <a:solidFill>
                      <a:srgbClr val="0B2545"/>
                    </a:solidFill>
                  </a:tcPr>
                </a:tc>
                <a:tc>
                  <a:txBody>
                    <a:bodyPr wrap="square"/>
                    <a:lstStyle/>
                    <a:p>
                      <a:r>
                        <a:rPr sz="1100" b="1">
                          <a:solidFill>
                            <a:srgbClr val="FFFFFF"/>
                          </a:solidFill>
                          <a:latin typeface="Segoe UI"/>
                        </a:rPr>
                        <a:t>Access</a:t>
                      </a:r>
                    </a:p>
                  </a:txBody>
                  <a:tcPr marL="73152" marR="73152" marT="36576" marB="36576" anchor="ctr">
                    <a:solidFill>
                      <a:srgbClr val="0B2545"/>
                    </a:solidFill>
                  </a:tcPr>
                </a:tc>
              </a:tr>
              <a:tr h="475488">
                <a:tc>
                  <a:txBody>
                    <a:bodyPr wrap="square"/>
                    <a:lstStyle/>
                    <a:p>
                      <a:r>
                        <a:rPr sz="1100" b="0">
                          <a:solidFill>
                            <a:srgbClr val="1F2933"/>
                          </a:solidFill>
                          <a:latin typeface="Segoe UI"/>
                        </a:rPr>
                        <a:t>PI / Project Director / KDM PMO</a:t>
                      </a:r>
                    </a:p>
                  </a:txBody>
                  <a:tcPr marL="73152" marR="73152" marT="36576" marB="36576" anchor="ctr">
                    <a:solidFill>
                      <a:srgbClr val="FFFFFF"/>
                    </a:solidFill>
                  </a:tcPr>
                </a:tc>
                <a:tc>
                  <a:txBody>
                    <a:bodyPr wrap="square"/>
                    <a:lstStyle/>
                    <a:p>
                      <a:r>
                        <a:rPr sz="1100" b="0">
                          <a:solidFill>
                            <a:srgbClr val="1F2933"/>
                          </a:solidFill>
                          <a:latin typeface="Segoe UI"/>
                        </a:rPr>
                        <a:t>Full program data and approvals</a:t>
                      </a:r>
                    </a:p>
                  </a:txBody>
                  <a:tcPr marL="73152" marR="73152" marT="36576" marB="36576" anchor="ctr">
                    <a:solidFill>
                      <a:srgbClr val="FFFFFF"/>
                    </a:solidFill>
                  </a:tcPr>
                </a:tc>
              </a:tr>
              <a:tr h="475488">
                <a:tc>
                  <a:txBody>
                    <a:bodyPr wrap="square"/>
                    <a:lstStyle/>
                    <a:p>
                      <a:r>
                        <a:rPr sz="1100" b="0">
                          <a:solidFill>
                            <a:srgbClr val="1F2933"/>
                          </a:solidFill>
                          <a:latin typeface="Segoe UI"/>
                        </a:rPr>
                        <a:t>Program managers</a:t>
                      </a:r>
                    </a:p>
                  </a:txBody>
                  <a:tcPr marL="73152" marR="73152" marT="36576" marB="36576" anchor="ctr">
                    <a:solidFill>
                      <a:srgbClr val="F4F7FB"/>
                    </a:solidFill>
                  </a:tcPr>
                </a:tc>
                <a:tc>
                  <a:txBody>
                    <a:bodyPr wrap="square"/>
                    <a:lstStyle/>
                    <a:p>
                      <a:r>
                        <a:rPr sz="1100" b="0">
                          <a:solidFill>
                            <a:srgbClr val="1F2933"/>
                          </a:solidFill>
                          <a:latin typeface="Segoe UI"/>
                        </a:rPr>
                        <a:t>Assigned clients; verify outcomes</a:t>
                      </a:r>
                    </a:p>
                  </a:txBody>
                  <a:tcPr marL="73152" marR="73152" marT="36576" marB="36576" anchor="ctr">
                    <a:solidFill>
                      <a:srgbClr val="F4F7FB"/>
                    </a:solidFill>
                  </a:tcPr>
                </a:tc>
              </a:tr>
              <a:tr h="475488">
                <a:tc>
                  <a:txBody>
                    <a:bodyPr wrap="square"/>
                    <a:lstStyle/>
                    <a:p>
                      <a:r>
                        <a:rPr sz="1100" b="0">
                          <a:solidFill>
                            <a:srgbClr val="1F2933"/>
                          </a:solidFill>
                          <a:latin typeface="Segoe UI"/>
                        </a:rPr>
                        <a:t>Partner advisors</a:t>
                      </a:r>
                    </a:p>
                  </a:txBody>
                  <a:tcPr marL="73152" marR="73152" marT="36576" marB="36576" anchor="ctr">
                    <a:solidFill>
                      <a:srgbClr val="FFFFFF"/>
                    </a:solidFill>
                  </a:tcPr>
                </a:tc>
                <a:tc>
                  <a:txBody>
                    <a:bodyPr wrap="square"/>
                    <a:lstStyle/>
                    <a:p>
                      <a:r>
                        <a:rPr sz="1100" b="0">
                          <a:solidFill>
                            <a:srgbClr val="1F2933"/>
                          </a:solidFill>
                          <a:latin typeface="Segoe UI"/>
                        </a:rPr>
                        <a:t>Referred clients and shared fields only</a:t>
                      </a:r>
                    </a:p>
                  </a:txBody>
                  <a:tcPr marL="73152" marR="73152" marT="36576" marB="36576" anchor="ctr">
                    <a:solidFill>
                      <a:srgbClr val="FFFFFF"/>
                    </a:solidFill>
                  </a:tcPr>
                </a:tc>
              </a:tr>
              <a:tr h="475488">
                <a:tc>
                  <a:txBody>
                    <a:bodyPr wrap="square"/>
                    <a:lstStyle/>
                    <a:p>
                      <a:r>
                        <a:rPr sz="1100" b="0">
                          <a:solidFill>
                            <a:srgbClr val="1F2933"/>
                          </a:solidFill>
                          <a:latin typeface="Segoe UI"/>
                        </a:rPr>
                        <a:t>Instructors</a:t>
                      </a:r>
                    </a:p>
                  </a:txBody>
                  <a:tcPr marL="73152" marR="73152" marT="36576" marB="36576" anchor="ctr">
                    <a:solidFill>
                      <a:srgbClr val="F4F7FB"/>
                    </a:solidFill>
                  </a:tcPr>
                </a:tc>
                <a:tc>
                  <a:txBody>
                    <a:bodyPr wrap="square"/>
                    <a:lstStyle/>
                    <a:p>
                      <a:r>
                        <a:rPr sz="1100" b="0">
                          <a:solidFill>
                            <a:srgbClr val="1F2933"/>
                          </a:solidFill>
                          <a:latin typeface="Segoe UI"/>
                        </a:rPr>
                        <a:t>Enrolled participants</a:t>
                      </a:r>
                    </a:p>
                  </a:txBody>
                  <a:tcPr marL="73152" marR="73152" marT="36576" marB="36576" anchor="ctr">
                    <a:solidFill>
                      <a:srgbClr val="F4F7FB"/>
                    </a:solidFill>
                  </a:tcPr>
                </a:tc>
              </a:tr>
              <a:tr h="475488">
                <a:tc>
                  <a:txBody>
                    <a:bodyPr wrap="square"/>
                    <a:lstStyle/>
                    <a:p>
                      <a:r>
                        <a:rPr sz="1100" b="0">
                          <a:solidFill>
                            <a:srgbClr val="1F2933"/>
                          </a:solidFill>
                          <a:latin typeface="Segoe UI"/>
                        </a:rPr>
                        <a:t>Evaluators</a:t>
                      </a:r>
                    </a:p>
                  </a:txBody>
                  <a:tcPr marL="73152" marR="73152" marT="36576" marB="36576" anchor="ctr">
                    <a:solidFill>
                      <a:srgbClr val="FFFFFF"/>
                    </a:solidFill>
                  </a:tcPr>
                </a:tc>
                <a:tc>
                  <a:txBody>
                    <a:bodyPr wrap="square"/>
                    <a:lstStyle/>
                    <a:p>
                      <a:r>
                        <a:rPr sz="1100" b="0">
                          <a:solidFill>
                            <a:srgbClr val="1F2933"/>
                          </a:solidFill>
                          <a:latin typeface="Segoe UI"/>
                        </a:rPr>
                        <a:t>De-identified and aggregated data</a:t>
                      </a:r>
                    </a:p>
                  </a:txBody>
                  <a:tcPr marL="73152" marR="73152" marT="36576" marB="36576" anchor="ctr">
                    <a:solidFill>
                      <a:srgbClr val="FFFFFF"/>
                    </a:solidFill>
                  </a:tcPr>
                </a:tc>
              </a:tr>
              <a:tr h="475488">
                <a:tc>
                  <a:txBody>
                    <a:bodyPr wrap="square"/>
                    <a:lstStyle/>
                    <a:p>
                      <a:r>
                        <a:rPr sz="1100" b="0">
                          <a:solidFill>
                            <a:srgbClr val="1F2933"/>
                          </a:solidFill>
                          <a:latin typeface="Segoe UI"/>
                        </a:rPr>
                        <a:t>Clients</a:t>
                      </a:r>
                    </a:p>
                  </a:txBody>
                  <a:tcPr marL="73152" marR="73152" marT="36576" marB="36576" anchor="ctr">
                    <a:solidFill>
                      <a:srgbClr val="F4F7FB"/>
                    </a:solidFill>
                  </a:tcPr>
                </a:tc>
                <a:tc>
                  <a:txBody>
                    <a:bodyPr wrap="square"/>
                    <a:lstStyle/>
                    <a:p>
                      <a:r>
                        <a:rPr sz="1100" b="0">
                          <a:solidFill>
                            <a:srgbClr val="1F2933"/>
                          </a:solidFill>
                          <a:latin typeface="Segoe UI"/>
                        </a:rPr>
                        <a:t>Own records, uploads, progress</a:t>
                      </a:r>
                    </a:p>
                  </a:txBody>
                  <a:tcPr marL="73152" marR="73152" marT="36576" marB="36576" anchor="ctr">
                    <a:solidFill>
                      <a:srgbClr val="F4F7FB"/>
                    </a:solidFill>
                  </a:tcPr>
                </a:tc>
              </a:tr>
              <a:tr h="475488">
                <a:tc>
                  <a:txBody>
                    <a:bodyPr wrap="square"/>
                    <a:lstStyle/>
                    <a:p>
                      <a:r>
                        <a:rPr sz="1100" b="0">
                          <a:solidFill>
                            <a:srgbClr val="1F2933"/>
                          </a:solidFill>
                          <a:latin typeface="Segoe UI"/>
                        </a:rPr>
                        <a:t>MBDA viewer</a:t>
                      </a:r>
                    </a:p>
                  </a:txBody>
                  <a:tcPr marL="73152" marR="73152" marT="36576" marB="36576" anchor="ctr">
                    <a:solidFill>
                      <a:srgbClr val="FFFFFF"/>
                    </a:solidFill>
                  </a:tcPr>
                </a:tc>
                <a:tc>
                  <a:txBody>
                    <a:bodyPr wrap="square"/>
                    <a:lstStyle/>
                    <a:p>
                      <a:r>
                        <a:rPr sz="1100" b="0">
                          <a:solidFill>
                            <a:srgbClr val="1F2933"/>
                          </a:solidFill>
                          <a:latin typeface="Segoe UI"/>
                        </a:rPr>
                        <a:t>Read-only MBDA reports</a:t>
                      </a:r>
                    </a:p>
                  </a:txBody>
                  <a:tcPr marL="73152" marR="73152" marT="36576" marB="36576" anchor="ctr">
                    <a:solidFill>
                      <a:srgbClr val="FFFFFF"/>
                    </a:solidFill>
                  </a:tcPr>
                </a:tc>
              </a:tr>
            </a:tbl>
          </a:graphicData>
        </a:graphic>
      </p:graphicFrame>
      <p:sp>
        <p:nvSpPr>
          <p:cNvPr id="10" name="Rounded Rectangle 9"/>
          <p:cNvSpPr/>
          <p:nvPr/>
        </p:nvSpPr>
        <p:spPr>
          <a:xfrm>
            <a:off x="6537960" y="1463040"/>
            <a:ext cx="5074920" cy="4800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7960" y="1572768"/>
            <a:ext cx="64008" cy="458114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9128" y="1572768"/>
            <a:ext cx="475488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Compliance safeguards</a:t>
            </a:r>
          </a:p>
        </p:txBody>
      </p:sp>
      <p:sp>
        <p:nvSpPr>
          <p:cNvPr id="13" name="TextBox 12"/>
          <p:cNvSpPr txBox="1"/>
          <p:nvPr/>
        </p:nvSpPr>
        <p:spPr>
          <a:xfrm>
            <a:off x="6739128" y="2011680"/>
            <a:ext cx="4754880" cy="41605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Separate deployment; role- and field-level protection of PII and financials</a:t>
            </a:r>
          </a:p>
          <a:p>
            <a:pPr algn="l">
              <a:spcAft>
                <a:spcPts val="600"/>
              </a:spcAft>
            </a:pPr>
            <a:r>
              <a:rPr sz="1400" b="0">
                <a:solidFill>
                  <a:srgbClr val="1F2933"/>
                </a:solidFill>
                <a:latin typeface="Segoe UI"/>
              </a:rPr>
              <a:t>•  Versioned consent and MBDA privacy disclosure; consent before partner sharing</a:t>
            </a:r>
          </a:p>
          <a:p>
            <a:pPr algn="l">
              <a:spcAft>
                <a:spcPts val="600"/>
              </a:spcAft>
            </a:pPr>
            <a:r>
              <a:rPr sz="1400" b="0">
                <a:solidFill>
                  <a:srgbClr val="1F2933"/>
                </a:solidFill>
                <a:latin typeface="Segoe UI"/>
              </a:rPr>
              <a:t>•  Write-once audit log; records retention per 2 CFR 200</a:t>
            </a:r>
          </a:p>
          <a:p>
            <a:pPr algn="l">
              <a:spcAft>
                <a:spcPts val="600"/>
              </a:spcAft>
            </a:pPr>
            <a:r>
              <a:rPr sz="1400" b="0">
                <a:solidFill>
                  <a:srgbClr val="1F2933"/>
                </a:solidFill>
                <a:latin typeface="Segoe UI"/>
              </a:rPr>
              <a:t>•  MOU guardrail: no federal funds for loans, grants, equity, construction, or lobbying</a:t>
            </a:r>
          </a:p>
          <a:p>
            <a:pPr algn="l">
              <a:spcAft>
                <a:spcPts val="600"/>
              </a:spcAft>
            </a:pPr>
            <a:r>
              <a:rPr sz="1400" b="0">
                <a:solidFill>
                  <a:srgbClr val="1F2933"/>
                </a:solidFill>
                <a:latin typeface="Segoe UI"/>
              </a:rPr>
              <a:t>•  AI data handling: redact sensitive fields; no CUI to AI providers</a:t>
            </a:r>
          </a:p>
          <a:p>
            <a:pPr algn="l">
              <a:spcAft>
                <a:spcPts val="600"/>
              </a:spcAft>
            </a:pPr>
            <a:r>
              <a:rPr sz="1400" b="0">
                <a:solidFill>
                  <a:srgbClr val="1F2933"/>
                </a:solidFill>
                <a:latin typeface="Segoe UI"/>
              </a:rPr>
              <a:t>•  MBDA branding guide followed on every public page and certificate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RISK MANAGEMENT</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Key risks and how we mitigate them</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17</a:t>
            </a:r>
          </a:p>
        </p:txBody>
      </p:sp>
      <p:graphicFrame>
        <p:nvGraphicFramePr>
          <p:cNvPr id="9" name="Table 8"/>
          <p:cNvGraphicFramePr>
            <a:graphicFrameLocks noGrp="1"/>
          </p:cNvGraphicFramePr>
          <p:nvPr/>
        </p:nvGraphicFramePr>
        <p:xfrm>
          <a:off x="548640" y="1463040"/>
          <a:ext cx="11064240" cy="4389120"/>
        </p:xfrm>
        <a:graphic>
          <a:graphicData uri="http://schemas.openxmlformats.org/drawingml/2006/table">
            <a:tbl>
              <a:tblPr firstRow="1" bandRow="1">
                <a:tableStyleId>{5C22544A-7EE6-4342-B048-85BDC9FD1C3A}</a:tableStyleId>
              </a:tblPr>
              <a:tblGrid>
                <a:gridCol w="5120640"/>
                <a:gridCol w="5943600"/>
              </a:tblGrid>
              <a:tr h="548640">
                <a:tc>
                  <a:txBody>
                    <a:bodyPr wrap="square"/>
                    <a:lstStyle/>
                    <a:p>
                      <a:r>
                        <a:rPr sz="1200" b="1">
                          <a:solidFill>
                            <a:srgbClr val="FFFFFF"/>
                          </a:solidFill>
                          <a:latin typeface="Segoe UI"/>
                        </a:rPr>
                        <a:t>Risk</a:t>
                      </a:r>
                    </a:p>
                  </a:txBody>
                  <a:tcPr marL="73152" marR="73152" marT="36576" marB="36576" anchor="ctr">
                    <a:solidFill>
                      <a:srgbClr val="0B2545"/>
                    </a:solidFill>
                  </a:tcPr>
                </a:tc>
                <a:tc>
                  <a:txBody>
                    <a:bodyPr wrap="square"/>
                    <a:lstStyle/>
                    <a:p>
                      <a:r>
                        <a:rPr sz="1200" b="1">
                          <a:solidFill>
                            <a:srgbClr val="FFFFFF"/>
                          </a:solidFill>
                          <a:latin typeface="Segoe UI"/>
                        </a:rPr>
                        <a:t>Mitigation</a:t>
                      </a:r>
                    </a:p>
                  </a:txBody>
                  <a:tcPr marL="73152" marR="73152" marT="36576" marB="36576" anchor="ctr">
                    <a:solidFill>
                      <a:srgbClr val="0B2545"/>
                    </a:solidFill>
                  </a:tcPr>
                </a:tc>
              </a:tr>
              <a:tr h="548640">
                <a:tc>
                  <a:txBody>
                    <a:bodyPr wrap="square"/>
                    <a:lstStyle/>
                    <a:p>
                      <a:r>
                        <a:rPr sz="1200" b="0">
                          <a:solidFill>
                            <a:srgbClr val="1F2933"/>
                          </a:solidFill>
                          <a:latin typeface="Segoe UI"/>
                        </a:rPr>
                        <a:t>Zero Q1 results because the platform is not ready</a:t>
                      </a:r>
                    </a:p>
                  </a:txBody>
                  <a:tcPr marL="73152" marR="73152" marT="36576" marB="36576" anchor="ctr">
                    <a:solidFill>
                      <a:srgbClr val="FFFFFF"/>
                    </a:solidFill>
                  </a:tcPr>
                </a:tc>
                <a:tc>
                  <a:txBody>
                    <a:bodyPr wrap="square"/>
                    <a:lstStyle/>
                    <a:p>
                      <a:r>
                        <a:rPr sz="1200" b="0">
                          <a:solidFill>
                            <a:srgbClr val="1F2933"/>
                          </a:solidFill>
                          <a:latin typeface="Segoe UI"/>
                        </a:rPr>
                        <a:t>Phase 0 pilot on existing modules by Nov 10</a:t>
                      </a:r>
                    </a:p>
                  </a:txBody>
                  <a:tcPr marL="73152" marR="73152" marT="36576" marB="36576" anchor="ctr">
                    <a:solidFill>
                      <a:srgbClr val="FFFFFF"/>
                    </a:solidFill>
                  </a:tcPr>
                </a:tc>
              </a:tr>
              <a:tr h="548640">
                <a:tc>
                  <a:txBody>
                    <a:bodyPr wrap="square"/>
                    <a:lstStyle/>
                    <a:p>
                      <a:r>
                        <a:rPr sz="1200" b="0">
                          <a:solidFill>
                            <a:srgbClr val="1F2933"/>
                          </a:solidFill>
                          <a:latin typeface="Segoe UI"/>
                        </a:rPr>
                        <a:t>Unconfirmed targets and MBDA reporting format</a:t>
                      </a:r>
                    </a:p>
                  </a:txBody>
                  <a:tcPr marL="73152" marR="73152" marT="36576" marB="36576" anchor="ctr">
                    <a:solidFill>
                      <a:srgbClr val="F4F7FB"/>
                    </a:solidFill>
                  </a:tcPr>
                </a:tc>
                <a:tc>
                  <a:txBody>
                    <a:bodyPr wrap="square"/>
                    <a:lstStyle/>
                    <a:p>
                      <a:r>
                        <a:rPr sz="1200" b="0">
                          <a:solidFill>
                            <a:srgbClr val="1F2933"/>
                          </a:solidFill>
                          <a:latin typeface="Segoe UI"/>
                        </a:rPr>
                        <a:t>Configurable targets; reporting adapter; confirm at orientation</a:t>
                      </a:r>
                    </a:p>
                  </a:txBody>
                  <a:tcPr marL="73152" marR="73152" marT="36576" marB="36576" anchor="ctr">
                    <a:solidFill>
                      <a:srgbClr val="F4F7FB"/>
                    </a:solidFill>
                  </a:tcPr>
                </a:tc>
              </a:tr>
              <a:tr h="548640">
                <a:tc>
                  <a:txBody>
                    <a:bodyPr wrap="square"/>
                    <a:lstStyle/>
                    <a:p>
                      <a:r>
                        <a:rPr sz="1200" b="0">
                          <a:solidFill>
                            <a:srgbClr val="1F2933"/>
                          </a:solidFill>
                          <a:latin typeface="Segoe UI"/>
                        </a:rPr>
                        <a:t>Exposure of PII or confidential business data</a:t>
                      </a:r>
                    </a:p>
                  </a:txBody>
                  <a:tcPr marL="73152" marR="73152" marT="36576" marB="36576" anchor="ctr">
                    <a:solidFill>
                      <a:srgbClr val="FFFFFF"/>
                    </a:solidFill>
                  </a:tcPr>
                </a:tc>
                <a:tc>
                  <a:txBody>
                    <a:bodyPr wrap="square"/>
                    <a:lstStyle/>
                    <a:p>
                      <a:r>
                        <a:rPr sz="1200" b="0">
                          <a:solidFill>
                            <a:srgbClr val="1F2933"/>
                          </a:solidFill>
                          <a:latin typeface="Segoe UI"/>
                        </a:rPr>
                        <a:t>Separate deployment, role-scoped access, secure file storage, audit</a:t>
                      </a:r>
                    </a:p>
                  </a:txBody>
                  <a:tcPr marL="73152" marR="73152" marT="36576" marB="36576" anchor="ctr">
                    <a:solidFill>
                      <a:srgbClr val="FFFFFF"/>
                    </a:solidFill>
                  </a:tcPr>
                </a:tc>
              </a:tr>
              <a:tr h="548640">
                <a:tc>
                  <a:txBody>
                    <a:bodyPr wrap="square"/>
                    <a:lstStyle/>
                    <a:p>
                      <a:r>
                        <a:rPr sz="1200" b="0">
                          <a:solidFill>
                            <a:srgbClr val="1F2933"/>
                          </a:solidFill>
                          <a:latin typeface="Segoe UI"/>
                        </a:rPr>
                        <a:t>AI errors in intake or proposals</a:t>
                      </a:r>
                    </a:p>
                  </a:txBody>
                  <a:tcPr marL="73152" marR="73152" marT="36576" marB="36576" anchor="ctr">
                    <a:solidFill>
                      <a:srgbClr val="F4F7FB"/>
                    </a:solidFill>
                  </a:tcPr>
                </a:tc>
                <a:tc>
                  <a:txBody>
                    <a:bodyPr wrap="square"/>
                    <a:lstStyle/>
                    <a:p>
                      <a:r>
                        <a:rPr sz="1200" b="0">
                          <a:solidFill>
                            <a:srgbClr val="1F2933"/>
                          </a:solidFill>
                          <a:latin typeface="Segoe UI"/>
                        </a:rPr>
                        <a:t>Human review gates; drafts limited to verified facts; labeled AI output</a:t>
                      </a:r>
                    </a:p>
                  </a:txBody>
                  <a:tcPr marL="73152" marR="73152" marT="36576" marB="36576" anchor="ctr">
                    <a:solidFill>
                      <a:srgbClr val="F4F7FB"/>
                    </a:solidFill>
                  </a:tcPr>
                </a:tc>
              </a:tr>
              <a:tr h="548640">
                <a:tc>
                  <a:txBody>
                    <a:bodyPr wrap="square"/>
                    <a:lstStyle/>
                    <a:p>
                      <a:r>
                        <a:rPr sz="1200" b="0">
                          <a:solidFill>
                            <a:srgbClr val="1F2933"/>
                          </a:solidFill>
                          <a:latin typeface="Segoe UI"/>
                        </a:rPr>
                        <a:t>Invoice delays (subaward / PO pending)</a:t>
                      </a:r>
                    </a:p>
                  </a:txBody>
                  <a:tcPr marL="73152" marR="73152" marT="36576" marB="36576" anchor="ctr">
                    <a:solidFill>
                      <a:srgbClr val="FFFFFF"/>
                    </a:solidFill>
                  </a:tcPr>
                </a:tc>
                <a:tc>
                  <a:txBody>
                    <a:bodyPr wrap="square"/>
                    <a:lstStyle/>
                    <a:p>
                      <a:r>
                        <a:rPr sz="1200" b="0">
                          <a:solidFill>
                            <a:srgbClr val="1F2933"/>
                          </a:solidFill>
                          <a:latin typeface="Segoe UI"/>
                        </a:rPr>
                        <a:t>Grant tracker with PO status; evidence packets prepared in advance</a:t>
                      </a:r>
                    </a:p>
                  </a:txBody>
                  <a:tcPr marL="73152" marR="73152" marT="36576" marB="36576" anchor="ctr">
                    <a:solidFill>
                      <a:srgbClr val="FFFFFF"/>
                    </a:solidFill>
                  </a:tcPr>
                </a:tc>
              </a:tr>
              <a:tr h="548640">
                <a:tc>
                  <a:txBody>
                    <a:bodyPr wrap="square"/>
                    <a:lstStyle/>
                    <a:p>
                      <a:r>
                        <a:rPr sz="1200" b="0">
                          <a:solidFill>
                            <a:srgbClr val="1F2933"/>
                          </a:solidFill>
                          <a:latin typeface="Segoe UI"/>
                        </a:rPr>
                        <a:t>50% budget reduction limits build capacity</a:t>
                      </a:r>
                    </a:p>
                  </a:txBody>
                  <a:tcPr marL="73152" marR="73152" marT="36576" marB="36576" anchor="ctr">
                    <a:solidFill>
                      <a:srgbClr val="F4F7FB"/>
                    </a:solidFill>
                  </a:tcPr>
                </a:tc>
                <a:tc>
                  <a:txBody>
                    <a:bodyPr wrap="square"/>
                    <a:lstStyle/>
                    <a:p>
                      <a:r>
                        <a:rPr sz="1200" b="0">
                          <a:solidFill>
                            <a:srgbClr val="1F2933"/>
                          </a:solidFill>
                          <a:latin typeface="Segoe UI"/>
                        </a:rPr>
                        <a:t>Reuse existing modules first; phase builds by invoice milestones</a:t>
                      </a:r>
                    </a:p>
                  </a:txBody>
                  <a:tcPr marL="73152" marR="73152" marT="36576" marB="36576" anchor="ctr">
                    <a:solidFill>
                      <a:srgbClr val="F4F7FB"/>
                    </a:solidFill>
                  </a:tcPr>
                </a:tc>
              </a:tr>
              <a:tr h="548640">
                <a:tc>
                  <a:txBody>
                    <a:bodyPr wrap="square"/>
                    <a:lstStyle/>
                    <a:p>
                      <a:r>
                        <a:rPr sz="1200" b="0">
                          <a:solidFill>
                            <a:srgbClr val="1F2933"/>
                          </a:solidFill>
                          <a:latin typeface="Segoe UI"/>
                        </a:rPr>
                        <a:t>MBDA branding non-compliance</a:t>
                      </a:r>
                    </a:p>
                  </a:txBody>
                  <a:tcPr marL="73152" marR="73152" marT="36576" marB="36576" anchor="ctr">
                    <a:solidFill>
                      <a:srgbClr val="FFFFFF"/>
                    </a:solidFill>
                  </a:tcPr>
                </a:tc>
                <a:tc>
                  <a:txBody>
                    <a:bodyPr wrap="square"/>
                    <a:lstStyle/>
                    <a:p>
                      <a:r>
                        <a:rPr sz="1200" b="0">
                          <a:solidFill>
                            <a:srgbClr val="1F2933"/>
                          </a:solidFill>
                          <a:latin typeface="Segoe UI"/>
                        </a:rPr>
                        <a:t>Request current guide; configurable logo lockup and review</a:t>
                      </a:r>
                    </a:p>
                  </a:txBody>
                  <a:tcPr marL="73152" marR="73152" marT="36576" marB="3657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27432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NEXT STEPS</a:t>
            </a:r>
          </a:p>
        </p:txBody>
      </p:sp>
      <p:sp>
        <p:nvSpPr>
          <p:cNvPr id="4" name="TextBox 3"/>
          <p:cNvSpPr txBox="1"/>
          <p:nvPr/>
        </p:nvSpPr>
        <p:spPr>
          <a:xfrm>
            <a:off x="548640" y="530352"/>
            <a:ext cx="11064240" cy="640080"/>
          </a:xfrm>
          <a:prstGeom prst="rect">
            <a:avLst/>
          </a:prstGeom>
          <a:noFill/>
        </p:spPr>
        <p:txBody>
          <a:bodyPr wrap="square" anchor="t" lIns="45720" rIns="45720" tIns="27432" bIns="27432">
            <a:spAutoFit/>
          </a:bodyPr>
          <a:lstStyle/>
          <a:p>
            <a:pPr algn="l">
              <a:spcAft>
                <a:spcPts val="400"/>
              </a:spcAft>
            </a:pPr>
            <a:r>
              <a:rPr sz="2800" b="1">
                <a:solidFill>
                  <a:srgbClr val="0B2545"/>
                </a:solidFill>
                <a:latin typeface="Segoe UI"/>
              </a:rPr>
              <a:t>Decisions needed to start building</a:t>
            </a:r>
          </a:p>
        </p:txBody>
      </p:sp>
      <p:sp>
        <p:nvSpPr>
          <p:cNvPr id="5" name="Rectangle 4"/>
          <p:cNvSpPr/>
          <p:nvPr/>
        </p:nvSpPr>
        <p:spPr>
          <a:xfrm>
            <a:off x="566928" y="1170432"/>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91695" cy="365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229600" cy="274320"/>
          </a:xfrm>
          <a:prstGeom prst="rect">
            <a:avLst/>
          </a:prstGeom>
          <a:noFill/>
        </p:spPr>
        <p:txBody>
          <a:bodyPr wrap="square" anchor="t" lIns="45720" rIns="45720" tIns="27432" bIns="27432">
            <a:spAutoFit/>
          </a:bodyPr>
          <a:lstStyle/>
          <a:p>
            <a:pPr algn="l">
              <a:spcAft>
                <a:spcPts val="400"/>
              </a:spcAft>
            </a:pPr>
            <a:r>
              <a:rPr sz="900" b="0">
                <a:solidFill>
                  <a:srgbClr val="5F6B7A"/>
                </a:solidFill>
                <a:latin typeface="Segoe UI"/>
              </a:rPr>
              <a:t>Southern University LIFT Center  ·  MBDA Rural Business Center  ·  Implementation Plan</a:t>
            </a:r>
          </a:p>
        </p:txBody>
      </p:sp>
      <p:sp>
        <p:nvSpPr>
          <p:cNvPr id="8" name="TextBox 7"/>
          <p:cNvSpPr txBox="1"/>
          <p:nvPr/>
        </p:nvSpPr>
        <p:spPr>
          <a:xfrm>
            <a:off x="10881360" y="6528816"/>
            <a:ext cx="777240" cy="274320"/>
          </a:xfrm>
          <a:prstGeom prst="rect">
            <a:avLst/>
          </a:prstGeom>
          <a:noFill/>
        </p:spPr>
        <p:txBody>
          <a:bodyPr wrap="square" anchor="t" lIns="45720" rIns="45720" tIns="27432" bIns="27432">
            <a:spAutoFit/>
          </a:bodyPr>
          <a:lstStyle/>
          <a:p>
            <a:pPr algn="r">
              <a:spcAft>
                <a:spcPts val="400"/>
              </a:spcAft>
            </a:pPr>
            <a:r>
              <a:rPr sz="900" b="0">
                <a:solidFill>
                  <a:srgbClr val="5F6B7A"/>
                </a:solidFill>
                <a:latin typeface="Segoe UI"/>
              </a:rPr>
              <a:t>18</a:t>
            </a:r>
          </a:p>
        </p:txBody>
      </p:sp>
      <p:sp>
        <p:nvSpPr>
          <p:cNvPr id="9" name="Rounded Rectangle 8"/>
          <p:cNvSpPr/>
          <p:nvPr/>
        </p:nvSpPr>
        <p:spPr>
          <a:xfrm>
            <a:off x="548640" y="1463040"/>
            <a:ext cx="5486400" cy="4800600"/>
          </a:xfrm>
          <a:prstGeom prst="roundRect">
            <a:avLst>
              <a:gd name="adj" fmla="val 8000"/>
            </a:avLst>
          </a:prstGeom>
          <a:solidFill>
            <a:srgbClr val="FFFFFF"/>
          </a:solidFill>
          <a:ln w="12700">
            <a:solidFill>
              <a:srgbClr val="D6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72768"/>
            <a:ext cx="64008" cy="4581144"/>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572768"/>
            <a:ext cx="5166360" cy="365760"/>
          </a:xfrm>
          <a:prstGeom prst="rect">
            <a:avLst/>
          </a:prstGeom>
          <a:noFill/>
        </p:spPr>
        <p:txBody>
          <a:bodyPr wrap="square" anchor="t" lIns="45720" rIns="45720" tIns="27432" bIns="27432">
            <a:spAutoFit/>
          </a:bodyPr>
          <a:lstStyle/>
          <a:p>
            <a:pPr algn="l">
              <a:spcAft>
                <a:spcPts val="400"/>
              </a:spcAft>
            </a:pPr>
            <a:r>
              <a:rPr sz="1600" b="1">
                <a:solidFill>
                  <a:srgbClr val="0B2545"/>
                </a:solidFill>
                <a:latin typeface="Segoe UI"/>
              </a:rPr>
              <a:t>Decisions for Southern, KDM, and MBDA</a:t>
            </a:r>
          </a:p>
        </p:txBody>
      </p:sp>
      <p:sp>
        <p:nvSpPr>
          <p:cNvPr id="12" name="TextBox 11"/>
          <p:cNvSpPr txBox="1"/>
          <p:nvPr/>
        </p:nvSpPr>
        <p:spPr>
          <a:xfrm>
            <a:off x="749808" y="2011680"/>
            <a:ext cx="5166360" cy="4160520"/>
          </a:xfrm>
          <a:prstGeom prst="rect">
            <a:avLst/>
          </a:prstGeom>
          <a:noFill/>
        </p:spPr>
        <p:txBody>
          <a:bodyPr wrap="square" anchor="t" lIns="45720" rIns="45720" tIns="27432" bIns="27432">
            <a:spAutoFit/>
          </a:bodyPr>
          <a:lstStyle/>
          <a:p>
            <a:pPr algn="l">
              <a:spcAft>
                <a:spcPts val="600"/>
              </a:spcAft>
            </a:pPr>
            <a:r>
              <a:rPr sz="1300" b="0">
                <a:solidFill>
                  <a:srgbClr val="1F2933"/>
                </a:solidFill>
                <a:latin typeface="Segoe UI"/>
              </a:rPr>
              <a:t>•  Confirm authoritative Year 1–3 targets</a:t>
            </a:r>
          </a:p>
          <a:p>
            <a:pPr algn="l">
              <a:spcAft>
                <a:spcPts val="600"/>
              </a:spcAft>
            </a:pPr>
            <a:r>
              <a:rPr sz="1300" b="0">
                <a:solidFill>
                  <a:srgbClr val="1F2933"/>
                </a:solidFill>
                <a:latin typeface="Segoe UI"/>
              </a:rPr>
              <a:t>•  MBDA performance system and report format</a:t>
            </a:r>
          </a:p>
          <a:p>
            <a:pPr algn="l">
              <a:spcAft>
                <a:spcPts val="600"/>
              </a:spcAft>
            </a:pPr>
            <a:r>
              <a:rPr sz="1300" b="0">
                <a:solidFill>
                  <a:srgbClr val="1F2933"/>
                </a:solidFill>
                <a:latin typeface="Segoe UI"/>
              </a:rPr>
              <a:t>•  Rural eligibility definition and data source</a:t>
            </a:r>
          </a:p>
          <a:p>
            <a:pPr algn="l">
              <a:spcAft>
                <a:spcPts val="600"/>
              </a:spcAft>
            </a:pPr>
            <a:r>
              <a:rPr sz="1300" b="0">
                <a:solidFill>
                  <a:srgbClr val="1F2933"/>
                </a:solidFill>
                <a:latin typeface="Segoe UI"/>
              </a:rPr>
              <a:t>•  Electronic consent for the OMB-approved intake form</a:t>
            </a:r>
          </a:p>
          <a:p>
            <a:pPr algn="l">
              <a:spcAft>
                <a:spcPts val="600"/>
              </a:spcAft>
            </a:pPr>
            <a:r>
              <a:rPr sz="1300" b="0">
                <a:solidFill>
                  <a:srgbClr val="1F2933"/>
                </a:solidFill>
                <a:latin typeface="Segoe UI"/>
              </a:rPr>
              <a:t>•  Approved AI provider and data-handling terms</a:t>
            </a:r>
          </a:p>
          <a:p>
            <a:pPr algn="l">
              <a:spcAft>
                <a:spcPts val="600"/>
              </a:spcAft>
            </a:pPr>
            <a:r>
              <a:rPr sz="1300" b="0">
                <a:solidFill>
                  <a:srgbClr val="1F2933"/>
                </a:solidFill>
                <a:latin typeface="Segoe UI"/>
              </a:rPr>
              <a:t>•  LIFT domain, email, and current MBDA branding guide</a:t>
            </a:r>
          </a:p>
          <a:p>
            <a:pPr algn="l">
              <a:spcAft>
                <a:spcPts val="600"/>
              </a:spcAft>
            </a:pPr>
            <a:r>
              <a:rPr sz="1300" b="0">
                <a:solidFill>
                  <a:srgbClr val="1F2933"/>
                </a:solidFill>
                <a:latin typeface="Segoe UI"/>
              </a:rPr>
              <a:t>•  Partner portal access vs. email referrals</a:t>
            </a:r>
          </a:p>
        </p:txBody>
      </p:sp>
      <p:sp>
        <p:nvSpPr>
          <p:cNvPr id="13" name="Rounded Rectangle 12"/>
          <p:cNvSpPr/>
          <p:nvPr/>
        </p:nvSpPr>
        <p:spPr>
          <a:xfrm>
            <a:off x="6263640" y="1463040"/>
            <a:ext cx="5349240" cy="1078992"/>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5029200" cy="32004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THIS WEEK</a:t>
            </a:r>
          </a:p>
        </p:txBody>
      </p:sp>
      <p:sp>
        <p:nvSpPr>
          <p:cNvPr id="15" name="TextBox 14"/>
          <p:cNvSpPr txBox="1"/>
          <p:nvPr/>
        </p:nvSpPr>
        <p:spPr>
          <a:xfrm>
            <a:off x="6446520" y="1874520"/>
            <a:ext cx="5029200" cy="640080"/>
          </a:xfrm>
          <a:prstGeom prst="rect">
            <a:avLst/>
          </a:prstGeom>
          <a:noFill/>
        </p:spPr>
        <p:txBody>
          <a:bodyPr wrap="square" anchor="t" lIns="45720" rIns="45720" tIns="27432" bIns="27432">
            <a:spAutoFit/>
          </a:bodyPr>
          <a:lstStyle/>
          <a:p>
            <a:pPr algn="l">
              <a:spcAft>
                <a:spcPts val="400"/>
              </a:spcAft>
            </a:pPr>
            <a:r>
              <a:rPr sz="1300" b="1">
                <a:solidFill>
                  <a:srgbClr val="FFFFFF"/>
                </a:solidFill>
                <a:latin typeface="Segoe UI"/>
              </a:rPr>
              <a:t>Approve plan and Phase 0 scope; request MBDA branding guide</a:t>
            </a:r>
          </a:p>
        </p:txBody>
      </p:sp>
      <p:sp>
        <p:nvSpPr>
          <p:cNvPr id="16" name="Rounded Rectangle 15"/>
          <p:cNvSpPr/>
          <p:nvPr/>
        </p:nvSpPr>
        <p:spPr>
          <a:xfrm>
            <a:off x="6263640" y="2679192"/>
            <a:ext cx="5349240" cy="10789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770632"/>
            <a:ext cx="5029200" cy="32004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BY NOV 10</a:t>
            </a:r>
          </a:p>
        </p:txBody>
      </p:sp>
      <p:sp>
        <p:nvSpPr>
          <p:cNvPr id="18" name="TextBox 17"/>
          <p:cNvSpPr txBox="1"/>
          <p:nvPr/>
        </p:nvSpPr>
        <p:spPr>
          <a:xfrm>
            <a:off x="6446520" y="3090672"/>
            <a:ext cx="5029200" cy="640080"/>
          </a:xfrm>
          <a:prstGeom prst="rect">
            <a:avLst/>
          </a:prstGeom>
          <a:noFill/>
        </p:spPr>
        <p:txBody>
          <a:bodyPr wrap="square" anchor="t" lIns="45720" rIns="45720" tIns="27432" bIns="27432">
            <a:spAutoFit/>
          </a:bodyPr>
          <a:lstStyle/>
          <a:p>
            <a:pPr algn="l">
              <a:spcAft>
                <a:spcPts val="400"/>
              </a:spcAft>
            </a:pPr>
            <a:r>
              <a:rPr sz="1300" b="1">
                <a:solidFill>
                  <a:srgbClr val="1F2933"/>
                </a:solidFill>
                <a:latin typeface="Segoe UI"/>
              </a:rPr>
              <a:t>Launch pilot site, signed intake, and webinar archive</a:t>
            </a:r>
          </a:p>
        </p:txBody>
      </p:sp>
      <p:sp>
        <p:nvSpPr>
          <p:cNvPr id="19" name="Rounded Rectangle 18"/>
          <p:cNvSpPr/>
          <p:nvPr/>
        </p:nvSpPr>
        <p:spPr>
          <a:xfrm>
            <a:off x="6263640" y="3895344"/>
            <a:ext cx="5349240" cy="10789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986783"/>
            <a:ext cx="5029200" cy="32004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BY ~NOV 19</a:t>
            </a:r>
          </a:p>
        </p:txBody>
      </p:sp>
      <p:sp>
        <p:nvSpPr>
          <p:cNvPr id="21" name="TextBox 20"/>
          <p:cNvSpPr txBox="1"/>
          <p:nvPr/>
        </p:nvSpPr>
        <p:spPr>
          <a:xfrm>
            <a:off x="6446520" y="4306824"/>
            <a:ext cx="5029200" cy="640080"/>
          </a:xfrm>
          <a:prstGeom prst="rect">
            <a:avLst/>
          </a:prstGeom>
          <a:noFill/>
        </p:spPr>
        <p:txBody>
          <a:bodyPr wrap="square" anchor="t" lIns="45720" rIns="45720" tIns="27432" bIns="27432">
            <a:spAutoFit/>
          </a:bodyPr>
          <a:lstStyle/>
          <a:p>
            <a:pPr algn="l">
              <a:spcAft>
                <a:spcPts val="400"/>
              </a:spcAft>
            </a:pPr>
            <a:r>
              <a:rPr sz="1300" b="1">
                <a:solidFill>
                  <a:srgbClr val="1F2933"/>
                </a:solidFill>
                <a:latin typeface="Segoe UI"/>
              </a:rPr>
              <a:t>Public launch with AI intake and partner routing</a:t>
            </a:r>
          </a:p>
        </p:txBody>
      </p:sp>
      <p:sp>
        <p:nvSpPr>
          <p:cNvPr id="22" name="Rounded Rectangle 21"/>
          <p:cNvSpPr/>
          <p:nvPr/>
        </p:nvSpPr>
        <p:spPr>
          <a:xfrm>
            <a:off x="6263640" y="5111496"/>
            <a:ext cx="5349240" cy="1078992"/>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5202936"/>
            <a:ext cx="5029200" cy="320040"/>
          </a:xfrm>
          <a:prstGeom prst="rect">
            <a:avLst/>
          </a:prstGeom>
          <a:noFill/>
        </p:spPr>
        <p:txBody>
          <a:bodyPr wrap="square" anchor="t" lIns="45720" rIns="45720" tIns="27432" bIns="27432">
            <a:spAutoFit/>
          </a:bodyPr>
          <a:lstStyle/>
          <a:p>
            <a:pPr algn="l">
              <a:spcAft>
                <a:spcPts val="400"/>
              </a:spcAft>
            </a:pPr>
            <a:r>
              <a:rPr sz="1100" b="1">
                <a:solidFill>
                  <a:srgbClr val="C9A227"/>
                </a:solidFill>
                <a:latin typeface="Segoe UI"/>
              </a:rPr>
              <a:t>Q2</a:t>
            </a:r>
          </a:p>
        </p:txBody>
      </p:sp>
      <p:sp>
        <p:nvSpPr>
          <p:cNvPr id="24" name="TextBox 23"/>
          <p:cNvSpPr txBox="1"/>
          <p:nvPr/>
        </p:nvSpPr>
        <p:spPr>
          <a:xfrm>
            <a:off x="6446520" y="5522976"/>
            <a:ext cx="5029200" cy="640080"/>
          </a:xfrm>
          <a:prstGeom prst="rect">
            <a:avLst/>
          </a:prstGeom>
          <a:noFill/>
        </p:spPr>
        <p:txBody>
          <a:bodyPr wrap="square" anchor="t" lIns="45720" rIns="45720" tIns="27432" bIns="27432">
            <a:spAutoFit/>
          </a:bodyPr>
          <a:lstStyle/>
          <a:p>
            <a:pPr algn="l">
              <a:spcAft>
                <a:spcPts val="400"/>
              </a:spcAft>
            </a:pPr>
            <a:r>
              <a:rPr sz="1300" b="1">
                <a:solidFill>
                  <a:srgbClr val="1F2933"/>
                </a:solidFill>
                <a:latin typeface="Segoe UI"/>
              </a:rPr>
              <a:t>Evidence vault, metrics engine, and first MBDA report pack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0"/>
            <a:ext cx="12191695" cy="1188720"/>
          </a:xfrm>
          <a:prstGeom prst="rect">
            <a:avLst/>
          </a:prstGeom>
          <a:solidFill>
            <a:srgbClr val="134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698480" cy="457200"/>
          </a:xfrm>
          <a:prstGeom prst="rect">
            <a:avLst/>
          </a:prstGeom>
          <a:noFill/>
        </p:spPr>
        <p:txBody>
          <a:bodyPr wrap="square" anchor="t" lIns="45720" rIns="45720" tIns="27432" bIns="27432">
            <a:spAutoFit/>
          </a:bodyPr>
          <a:lstStyle/>
          <a:p>
            <a:pPr algn="l">
              <a:spcAft>
                <a:spcPts val="400"/>
              </a:spcAft>
            </a:pPr>
            <a:r>
              <a:rPr sz="1400" b="1">
                <a:solidFill>
                  <a:srgbClr val="C9A227"/>
                </a:solidFill>
                <a:latin typeface="Segoe UI"/>
              </a:rPr>
              <a:t>RISE AS WE LIFT</a:t>
            </a:r>
          </a:p>
        </p:txBody>
      </p:sp>
      <p:sp>
        <p:nvSpPr>
          <p:cNvPr id="5" name="TextBox 4"/>
          <p:cNvSpPr txBox="1"/>
          <p:nvPr/>
        </p:nvSpPr>
        <p:spPr>
          <a:xfrm>
            <a:off x="731520" y="2194560"/>
            <a:ext cx="10698480" cy="1463040"/>
          </a:xfrm>
          <a:prstGeom prst="rect">
            <a:avLst/>
          </a:prstGeom>
          <a:noFill/>
        </p:spPr>
        <p:txBody>
          <a:bodyPr wrap="square" anchor="t" lIns="45720" rIns="45720" tIns="27432" bIns="27432">
            <a:spAutoFit/>
          </a:bodyPr>
          <a:lstStyle/>
          <a:p>
            <a:pPr algn="l">
              <a:spcAft>
                <a:spcPts val="400"/>
              </a:spcAft>
            </a:pPr>
            <a:r>
              <a:rPr sz="3600" b="1">
                <a:solidFill>
                  <a:srgbClr val="FFFFFF"/>
                </a:solidFill>
                <a:latin typeface="Segoe UI"/>
              </a:rPr>
              <a:t>One connected platform for every rural Louisiana business the Center serves</a:t>
            </a:r>
          </a:p>
        </p:txBody>
      </p:sp>
      <p:sp>
        <p:nvSpPr>
          <p:cNvPr id="6" name="Rectangle 5"/>
          <p:cNvSpPr/>
          <p:nvPr/>
        </p:nvSpPr>
        <p:spPr>
          <a:xfrm>
            <a:off x="749808" y="3886200"/>
            <a:ext cx="10972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14800"/>
            <a:ext cx="10515600" cy="1097280"/>
          </a:xfrm>
          <a:prstGeom prst="rect">
            <a:avLst/>
          </a:prstGeom>
          <a:noFill/>
        </p:spPr>
        <p:txBody>
          <a:bodyPr wrap="square" anchor="t" lIns="45720" rIns="45720" tIns="27432" bIns="27432">
            <a:spAutoFit/>
          </a:bodyPr>
          <a:lstStyle/>
          <a:p>
            <a:pPr algn="l">
              <a:spcAft>
                <a:spcPts val="400"/>
              </a:spcAft>
            </a:pPr>
            <a:r>
              <a:rPr sz="1800" b="0">
                <a:solidFill>
                  <a:srgbClr val="DBE4EE"/>
                </a:solidFill>
                <a:latin typeface="Segoe UI"/>
              </a:rPr>
              <a:t>Reuse what works today, build what MBDA measures, and launch the pilot in weeks — not months.</a:t>
            </a:r>
          </a:p>
        </p:txBody>
      </p:sp>
      <p:sp>
        <p:nvSpPr>
          <p:cNvPr id="8" name="TextBox 7"/>
          <p:cNvSpPr txBox="1"/>
          <p:nvPr/>
        </p:nvSpPr>
        <p:spPr>
          <a:xfrm>
            <a:off x="731520" y="5897880"/>
            <a:ext cx="10698480" cy="731520"/>
          </a:xfrm>
          <a:prstGeom prst="rect">
            <a:avLst/>
          </a:prstGeom>
          <a:noFill/>
        </p:spPr>
        <p:txBody>
          <a:bodyPr wrap="square" anchor="t" lIns="45720" rIns="45720" tIns="27432" bIns="27432">
            <a:spAutoFit/>
          </a:bodyPr>
          <a:lstStyle/>
          <a:p>
            <a:pPr algn="l">
              <a:spcAft>
                <a:spcPts val="400"/>
              </a:spcAft>
            </a:pPr>
            <a:r>
              <a:rPr sz="1200" b="0">
                <a:solidFill>
                  <a:srgbClr val="FFFFFF"/>
                </a:solidFill>
                <a:latin typeface="Segoe UI"/>
              </a:rPr>
              <a:t>Keith Moore, KDM &amp; Associates  ·  kmoore@kdm-assoc.com</a:t>
            </a:r>
          </a:p>
          <a:p>
            <a:pPr algn="l">
              <a:spcAft>
                <a:spcPts val="400"/>
              </a:spcAft>
            </a:pPr>
            <a:r>
              <a:rPr sz="1200" b="0">
                <a:solidFill>
                  <a:srgbClr val="FFFFFF"/>
                </a:solidFill>
                <a:latin typeface="Segoe UI"/>
              </a:rPr>
              <a:t>Supporting documents: LIFT Gap Analysis and LIFT System Design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University LIFT Center - Implementation Plan</dc:title>
  <dc:subject>SVP Platform gap analysis and implementation plan for the MBDA Rural Business Center</dc:subject>
  <dc:creator>KDM &amp; Associates, LLC</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